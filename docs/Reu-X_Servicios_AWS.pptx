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d702c90b-309c-4dd8-a4dc-2d2b71762ce5}">
          <p14:sldIdLst>
            <p14:sldId id="256"/>
            <p14:sldId id="257"/>
          </p14:sldIdLst>
        </p14:section>
        <p14:section name="Contexto" id="{f398715a-d6dc-be24-7f8e-71397d858794}">
          <p14:sldIdLst>
            <p14:sldId id="258"/>
            <p14:sldId id="259"/>
            <p14:sldId id="260"/>
            <p14:sldId id="261"/>
            <p14:sldId id="262"/>
          </p14:sldIdLst>
        </p14:section>
        <p14:section name="Los servicios" id="{5a6683b3-d811-8e87-5e47-072b060be664}">
          <p14:sldIdLst>
            <p14:sldId id="263"/>
            <p14:sldId id="264"/>
            <p14:sldId id="265"/>
            <p14:sldId id="266"/>
            <p14:sldId id="267"/>
            <p14:sldId id="268"/>
            <p14:sldId id="269"/>
            <p14:sldId id="270"/>
            <p14:sldId id="271"/>
            <p14:sldId id="272"/>
            <p14:sldId id="273"/>
            <p14:sldId id="274"/>
          </p14:sldIdLst>
        </p14:section>
        <p14:section name="Cómo se conectan" id="{2b67add0-0f5a-066e-8532-d16fd1708acf}">
          <p14:sldIdLst>
            <p14:sldId id="275"/>
            <p14:sldId id="276"/>
            <p14:sldId id="277"/>
            <p14:sldId id="278"/>
            <p14:sldId id="279"/>
            <p14:sldId id="280"/>
            <p14:sldId id="281"/>
            <p14:sldId id="282"/>
            <p14:sldId id="283"/>
            <p14:sldId id="284"/>
            <p14:sldId id="285"/>
          </p14:sldIdLst>
        </p14:section>
        <p14:section name="Seguridad y operación" id="{45a4abf3-ffcb-d083-90da-2d35d6dc201b}">
          <p14:sldIdLst>
            <p14:sldId id="286"/>
            <p14:sldId id="287"/>
            <p14:sldId id="288"/>
            <p14:sldId id="289"/>
            <p14:sldId id="290"/>
          </p14:sldIdLst>
        </p14:section>
        <p14:section name="Costos y próximos pasos" id="{63e7dcc3-902b-0a73-5520-5b51d4b9d3d9}">
          <p14:sldIdLst>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Segundos aproximados</a:t>
            </a:r>
          </a:p>
        </c:rich>
      </c:tx>
      <c:layout/>
      <c:overlay val="0"/>
    </c:title>
    <c:autoTitleDeleted val="0"/>
    <c:plotArea>
      <c:layout/>
      <c:barChart>
        <c:barDir val="bar"/>
        <c:grouping val="clustered"/>
        <c:varyColors val="0"/>
        <c:ser>
          <c:idx val="0"/>
          <c:order val="0"/>
          <c:tx>
            <c:strRef>
              <c:f>Sheet1!$B$1</c:f>
              <c:strCache>
                <c:ptCount val="1"/>
                <c:pt idx="0">
                  <c:v>Segundos</c:v>
                </c:pt>
              </c:strCache>
            </c:strRef>
          </c:tx>
          <c:spPr>
            <a:solidFill>
              <a:srgbClr val="9A7B4F"/>
            </a:solidFill>
            <a:effectLst/>
          </c:spPr>
          <c:invertIfNegative val="0"/>
          <c:dLbls>
            <c:numFmt formatCode="#,##0" sourceLinked="0"/>
            <c:txPr>
              <a:bodyPr/>
              <a:lstStyle/>
              <a:p>
                <a:pPr>
                  <a:defRPr b="0" i="0" strike="noStrike" sz="1200" u="none">
                    <a:solidFill>
                      <a:srgbClr val="1F2733"/>
                    </a:solidFill>
                    <a:latin typeface="+mn-lt"/>
                  </a:defRPr>
                </a:pPr>
              </a:p>
            </c:txPr>
            <c:showLegendKey val="0"/>
            <c:showVal val="1"/>
            <c:showCatName val="0"/>
            <c:showSerName val="0"/>
            <c:showPercent val="0"/>
            <c:showBubbleSize val="0"/>
            <c:showLeaderLines val="0"/>
          </c:dLbls>
          <c:cat>
            <c:multiLvlStrRef>
              <c:f>Sheet1!$A$2:$A$5</c:f>
              <c:multiLvlStrCache>
                <c:ptCount val="4"/>
                <c:lvl>
                  <c:pt idx="0">
                    <c:v>Subida (100 MB)</c:v>
                  </c:pt>
                  <c:pt idx="1">
                    <c:v>Transcripción (1 h de audio)</c:v>
                  </c:pt>
                  <c:pt idx="2">
                    <c:v>Minuta (Claude)</c:v>
                  </c:pt>
                  <c:pt idx="3">
                    <c:v>Cada visual (Claude)</c:v>
                  </c:pt>
                </c:lvl>
              </c:multiLvlStrCache>
            </c:multiLvlStrRef>
          </c:cat>
          <c:val>
            <c:numRef>
              <c:f>Sheet1!$B$2:$B$5</c:f>
              <c:numCache>
                <c:formatCode>General</c:formatCode>
                <c:ptCount val="4"/>
                <c:pt idx="0">
                  <c:v>60</c:v>
                </c:pt>
                <c:pt idx="1">
                  <c:v>1350</c:v>
                </c:pt>
                <c:pt idx="2">
                  <c:v>30</c:v>
                </c:pt>
                <c:pt idx="3">
                  <c:v>20</c:v>
                </c:pt>
              </c:numCache>
            </c:numRef>
          </c:val>
        </c:ser>
        <c:dLbls>
          <c:numFmt formatCode="#,##0" sourceLinked="0"/>
          <c:txPr>
            <a:bodyPr/>
            <a:lstStyle/>
            <a:p>
              <a:pPr>
                <a:defRPr b="0" i="0" strike="noStrike" sz="1200" u="none">
                  <a:solidFill>
                    <a:srgbClr val="1F27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73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F27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Costo fijo (USD / mes)</a:t>
            </a:r>
          </a:p>
        </c:rich>
      </c:tx>
      <c:layout/>
      <c:overlay val="0"/>
    </c:title>
    <c:autoTitleDeleted val="0"/>
    <c:plotArea>
      <c:layout/>
      <c:barChart>
        <c:barDir val="col"/>
        <c:grouping val="clustered"/>
        <c:varyColors val="0"/>
        <c:ser>
          <c:idx val="0"/>
          <c:order val="0"/>
          <c:tx>
            <c:strRef>
              <c:f>Sheet1!$B$1</c:f>
              <c:strCache>
                <c:ptCount val="1"/>
                <c:pt idx="0">
                  <c:v>USD por mes</c:v>
                </c:pt>
              </c:strCache>
            </c:strRef>
          </c:tx>
          <c:spPr>
            <a:solidFill>
              <a:srgbClr val="9A7B4F"/>
            </a:solidFill>
            <a:effectLst/>
          </c:spPr>
          <c:invertIfNegative val="0"/>
          <c:dLbls>
            <c:numFmt formatCode="$0.0" sourceLinked="0"/>
            <c:txPr>
              <a:bodyPr/>
              <a:lstStyle/>
              <a:p>
                <a:pPr>
                  <a:defRPr b="0" i="0" strike="noStrike" sz="1200" u="none">
                    <a:solidFill>
                      <a:srgbClr val="1F2733"/>
                    </a:solidFill>
                    <a:latin typeface="+mn-lt"/>
                  </a:defRPr>
                </a:pPr>
              </a:p>
            </c:txPr>
            <c:showLegendKey val="0"/>
            <c:showVal val="1"/>
            <c:showCatName val="0"/>
            <c:showSerName val="0"/>
            <c:showPercent val="0"/>
            <c:showBubbleSize val="0"/>
            <c:showLeaderLines val="0"/>
          </c:dLbls>
          <c:cat>
            <c:multiLvlStrRef>
              <c:f>Sheet1!$A$2:$A$5</c:f>
              <c:multiLvlStrCache>
                <c:ptCount val="4"/>
                <c:lvl>
                  <c:pt idx="0">
                    <c:v>EC2 t4g.small</c:v>
                  </c:pt>
                  <c:pt idx="1">
                    <c:v>IPv4 elástica</c:v>
                  </c:pt>
                  <c:pt idx="2">
                    <c:v>Disco EBS 20 GB</c:v>
                  </c:pt>
                  <c:pt idx="3">
                    <c:v>S3</c:v>
                  </c:pt>
                </c:lvl>
              </c:multiLvlStrCache>
            </c:multiLvlStrRef>
          </c:cat>
          <c:val>
            <c:numRef>
              <c:f>Sheet1!$B$2:$B$5</c:f>
              <c:numCache>
                <c:formatCode>General</c:formatCode>
                <c:ptCount val="4"/>
                <c:pt idx="0">
                  <c:v>12.3</c:v>
                </c:pt>
                <c:pt idx="1">
                  <c:v>3.6</c:v>
                </c:pt>
                <c:pt idx="2">
                  <c:v>1.6</c:v>
                </c:pt>
                <c:pt idx="3">
                  <c:v>0.5</c:v>
                </c:pt>
              </c:numCache>
            </c:numRef>
          </c:val>
        </c:ser>
        <c:dLbls>
          <c:numFmt formatCode="$0.0" sourceLinked="0"/>
          <c:txPr>
            <a:bodyPr/>
            <a:lstStyle/>
            <a:p>
              <a:pPr>
                <a:defRPr b="0" i="0" strike="noStrike" sz="1200" u="none">
                  <a:solidFill>
                    <a:srgbClr val="1F27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7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F27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Esta presentación explica qué servicios de AWS usa Reu-X, qué hace cada uno y cómo se conectan entre sí para convertir una reunión en una minuta 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la presentación: primero el contexto, luego cada servicio por separado, después cómo se conectan paso a paso, y por último seguridad, operación y costos.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problema que resuelve Reu-X y la arquitectura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Redactar una minuta a mano suele tomar más tiempo que la propia reunión y depende de que alguien tome buenas notas. Reu-X automatiza ese trabajo: la persona solo revisa y comparte.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Entrada: una grabación o texto. Proceso: transcripción y redacción con IA. Salida: minuta formal y visuales. Todo ocurre dentro de la cuenta de AWS de Amezzi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decisiones guían la arquitectura. Todo en AWS para tener una sola factura y cuenta; la grabación no pasa por el servidor; la IA responde en un formato estricto; y la seguridad está en cada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Vista completa: usuarios fuera de AWS, la instancia EC2 dentro de una VPC con su grupo de seguridad, y los servicios regionales S3, Transcribe, Bedrock, Parameter Store, Systems Manager, IAM y CloudFormation. Los números indican los flujos principales que veremos en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vemos cada servicio por separado: su papel, cómo está configurado y por qué se eligió.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Diez piezas en total. Seis son servicios de AWS que la app usa directamente; las demás sostienen la plataforma: red, permisos, administración e infraestructura como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es la máquina virtual donde vive Reu-X. Elegimos una instancia ARM pequeña porque el trabajo pesado lo hacen Transcribe y Bedrock; el servidor solo coordina. Sin SSH: se administra con Systems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Caddy es el portero del servidor. Gracias a él la app tiene HTTPS sin configurar certificados a mano. Solo necesitó que el registro DNS reux.amezzi.tech apuntara a la IP elástica.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es el disco de la solución. La regla de ciclo de vida borra las grabaciones a los 7 días para no acumular datos sensibles ni costos. El archivo de usuarios usa escrituras condicionales para evitar conflictos.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Transcribe hace el trabajo de reconocimiento de voz. La app no descarga el audio: le indica a Transcribe dónde está en S3 y dónde dejar el resultado. Luego formatea el JSON por hablante.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Bedrock es el puente hacia Claude dentro de AWS: la facturación queda en la misma cuenta. La clave es la salida estructurada: Claude no devuelve texto libre sino un JSON con campos fijos, que la app valida antes de mostrar.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 Store evita que las contraseñas vivan en el código o en archivos del servidor sin cifrar. El servidor las lee una vez al iniciar, con permiso solo sobre /reux/*.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aplica el principio de mínimo privilegio. Si alguien comprometiera la app, solo podría tocar el bucket de Reu-X y los parámetros /reux, no el resto de la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Systems Manager reemplaza el acceso SSH tradicional. Publicar una versión es un solo comando desde la computadora del desarrollador.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CloudFormation la infraestructura es reproducible: se puede recrear en otra cuenta o región con un comando, y cada cambio queda en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red es sencilla a propósito: un servidor público protegido por su grupo de seguridad. El DNS del dominio amezzi.tech se administra fuera de AWS, en el panel del registrador.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unimos las piezas: seguimos una reunión desde que se carga hasta que se descarga la minuta.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deja fuera el acceso y la operación para mostrar solo lo propio del problema: S3, Transcribe, la aplicación y Bedrock. Los siete pasos numerados son los que recorremos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app no recibe el video: solo entrega una URL firmada. El navegador sube directo a S3, lo que soporta archivos de hasta 2 GB sin saturar el servidor, con barra de progreso.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app solo inicia el trabajo. Transcribe trabaja de forma asíncrona leyendo el audio desde S3 y deja el resultado también en S3. La app consulta cada 5 segundos hasta que termina.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Transcribe entrega un JSON con cada palabra, su tiempo y su hablante. La app lo convierte en un texto legible, uniendo intervenciones seguidas de la misma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llamada a Claude incluye unas instrucciones de sistema, la transcripción y el esquema de la minuta. Claude responde con un JSON que la app valida; si no cumple el esquema, se rechaza.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visuales no se generan todos de entrada: cada uno se pide cuando el usuario abre su pestaña, con una llamada a Claude que recibe la minuta, no la transcripción completa. El de responsables se arma sin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una reunión de una hora, lo que más tarda es la transcripción: entre 15 y 30 minutos. La redacción toma menos de un minuto y cada visual entre 10 y 30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Otra forma de ver las conexiones: cinco capas, de la interfaz a los servicios de AWS. Cada servicio de aplicación baja a un servicio de dominio y este a un servicio de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componentes separa lo que corre en el navegador de lo que corre en el servidor y muestra las dos interfaces públicas: la API HTTPS y la subida directa a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todas las conexiones: quién llama a quién, por qué medio y para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protege la solución y cómo se opera en el día a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capa agrega una protección. Si una falla, las demás siguen limitando el daño.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perfiles. El participante está pensado para cuentas compartidas en eventos: tiene límites para acotar el gasto en Transcribe y Bedrock aunque la contraseña sea sencilla.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llave de AWS está guardada en el servidor. La instancia obtiene credenciales temporales de su rol IAM, que se renuevan solas. Las contraseñas de la app vienen de Parameter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Publicar es un solo comando. Systems Manager le pide al servidor que descargue la versión de GitHub, la compile y reinicie; tarda entre 3 y 6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los costos, los límites actuales y las mejoras sugeridas.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costo fijo ronda los 18 dólares al mes. El resto depende del uso: Transcribe cobra por minuto de audio y Bedrock por tokens. Son estimaciones de la región us-west-1.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hoy funciona bien para un equipo o un evento, y qué haría falta para crecer.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final de la arquitectura: cada servicio, qué aporta y con qué se conecta.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y comentarios. El código, los diagramas y esta presentación están en el repositorio de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46304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611880"/>
            <a:ext cx="105156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3794760"/>
            <a:ext cx="1051560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alpha val="70000"/>
                  </a:schemeClr>
                </a:solidFill>
              </a:rPr>
              <a:t>Reu-X · Servicios y conexiones en AWS · Amezzi Tech</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1F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1">
                    <a:alpha val="70000"/>
                  </a:schemeClr>
                </a:solidFill>
              </a:rPr>
              <a:t>Reu-X · Servicios y conexiones en AWS · Amezzi Tech</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1F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4.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1.png"/><Relationship Id="rId3" Type="http://schemas.openxmlformats.org/officeDocument/2006/relationships/image" Target="../media/image-26-1.png"/><Relationship Id="rId4" Type="http://schemas.openxmlformats.org/officeDocument/2006/relationships/image" Target="../media/image-26-4.png"/><Relationship Id="rId5" Type="http://schemas.openxmlformats.org/officeDocument/2006/relationships/slideLayout" Target="../slideLayouts/slideLayout4.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4.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46304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Reu-X</a:t>
            </a:r>
            <a:endParaRPr lang="en-US" sz="5400" dirty="0"/>
          </a:p>
        </p:txBody>
      </p:sp>
      <p:sp>
        <p:nvSpPr>
          <p:cNvPr id="4" name="Text 0"/>
          <p:cNvSpPr/>
          <p:nvPr>
            <p:ph idx="101" type="body" hasCustomPrompt="1"/>
          </p:nvPr>
        </p:nvSpPr>
        <p:spPr>
          <a:xfrm>
            <a:off x="548640" y="3611880"/>
            <a:ext cx="10515600" cy="914400"/>
          </a:xfrm>
          <a:prstGeom prst="rect">
            <a:avLst/>
          </a:prstGeom>
          <a:noFill/>
          <a:ln/>
        </p:spPr>
        <p:txBody>
          <a:bodyPr wrap="square" lIns="0" tIns="0" rIns="0" bIns="0" rtlCol="0" anchor="t"/>
          <a:lstStyle/>
          <a:p>
            <a:pPr indent="0" marL="0">
              <a:buNone/>
            </a:pPr>
            <a:r>
              <a:rPr lang="en-US" sz="2200" dirty="0">
                <a:solidFill>
                  <a:schemeClr val="bg2"/>
                </a:solidFill>
              </a:rPr>
              <a:t>Servicios y conexiones en AWS</a:t>
            </a:r>
            <a:endParaRPr lang="en-US" sz="2200" dirty="0"/>
          </a:p>
        </p:txBody>
      </p:sp>
      <p:sp>
        <p:nvSpPr>
          <p:cNvPr id="5" name="Text 2"/>
          <p:cNvSpPr txBox="1"/>
          <p:nvPr/>
        </p:nvSpPr>
        <p:spPr>
          <a:xfrm>
            <a:off x="548640" y="5394960"/>
            <a:ext cx="5486400" cy="411480"/>
          </a:xfrm>
          <a:prstGeom prst="rect">
            <a:avLst/>
          </a:prstGeom>
          <a:noFill/>
          <a:ln/>
        </p:spPr>
        <p:txBody>
          <a:bodyPr wrap="square" lIns="0" tIns="0" rIns="0" bIns="0" rtlCol="0" anchor="ctr"/>
          <a:lstStyle/>
          <a:p>
            <a:pPr indent="0" marL="0">
              <a:buNone/>
            </a:pPr>
            <a:r>
              <a:rPr lang="en-US" sz="2200" b="1" dirty="0">
                <a:solidFill>
                  <a:schemeClr val="bg1"/>
                </a:solidFill>
              </a:rPr>
              <a:t>Amezzi </a:t>
            </a:r>
            <a:pPr indent="0" marL="0">
              <a:buNone/>
            </a:pPr>
            <a:r>
              <a:rPr lang="en-US" sz="2200" b="1" dirty="0">
                <a:solidFill>
                  <a:schemeClr val="accent2"/>
                </a:solidFill>
              </a:rPr>
              <a:t>Tech</a:t>
            </a:r>
            <a:endParaRPr lang="en-US" sz="2200" dirty="0"/>
          </a:p>
        </p:txBody>
      </p:sp>
      <p:sp>
        <p:nvSpPr>
          <p:cNvPr id="6" name="Text 3"/>
          <p:cNvSpPr txBox="1"/>
          <p:nvPr/>
        </p:nvSpPr>
        <p:spPr>
          <a:xfrm>
            <a:off x="548640" y="5806440"/>
            <a:ext cx="8229600" cy="365760"/>
          </a:xfrm>
          <a:prstGeom prst="rect">
            <a:avLst/>
          </a:prstGeom>
          <a:noFill/>
          <a:ln/>
        </p:spPr>
        <p:txBody>
          <a:bodyPr wrap="square" lIns="0" tIns="0" rIns="0" bIns="0" rtlCol="0" anchor="ctr"/>
          <a:lstStyle/>
          <a:p>
            <a:pPr indent="0" marL="0">
              <a:buNone/>
            </a:pPr>
            <a:r>
              <a:rPr lang="en-US" sz="1400" dirty="0">
                <a:solidFill>
                  <a:schemeClr val="bg2"/>
                </a:solidFill>
              </a:rPr>
              <a:t>by Ing. Erick J. Pineda Amézquita · https://reux.amezzi.tech</a:t>
            </a:r>
            <a:endParaRPr lang="en-US" sz="1400" dirty="0"/>
          </a:p>
        </p:txBody>
      </p:sp>
      <p:sp>
        <p:nvSpPr>
          <p:cNvPr id="7" name="fondo portada s3"/>
          <p:cNvSpPr/>
          <p:nvPr/>
        </p:nvSpPr>
        <p:spPr>
          <a:xfrm>
            <a:off x="8001000" y="548640"/>
            <a:ext cx="822960" cy="822960"/>
          </a:xfrm>
          <a:prstGeom prst="roundRect">
            <a:avLst>
              <a:gd name="adj" fmla="val 11111"/>
            </a:avLst>
          </a:prstGeom>
          <a:solidFill>
            <a:schemeClr val="bg1"/>
          </a:solidFill>
          <a:ln w="12700">
            <a:solidFill>
              <a:schemeClr val="bg1"/>
            </a:solidFill>
            <a:prstDash val="solid"/>
          </a:ln>
        </p:spPr>
      </p:sp>
      <p:pic>
        <p:nvPicPr>
          <p:cNvPr id="8" name="icono portada s3" descr="C:\Users\Epine\OneDrive\Documentos\XrjEvolution\PasaTimes\Xperiments\Amezzi-Reu-X\docs\fuentes\iconos\s3.png">    </p:cNvPr>
          <p:cNvPicPr>
            <a:picLocks noChangeAspect="1"/>
          </p:cNvPicPr>
          <p:nvPr/>
        </p:nvPicPr>
        <p:blipFill>
          <a:blip r:embed="rId1"/>
          <a:stretch>
            <a:fillRect/>
          </a:stretch>
        </p:blipFill>
        <p:spPr>
          <a:xfrm>
            <a:off x="8092440" y="640080"/>
            <a:ext cx="640080" cy="640080"/>
          </a:xfrm>
          <a:prstGeom prst="rect">
            <a:avLst/>
          </a:prstGeom>
        </p:spPr>
      </p:pic>
      <p:sp>
        <p:nvSpPr>
          <p:cNvPr id="9" name="fondo portada transcribe"/>
          <p:cNvSpPr/>
          <p:nvPr/>
        </p:nvSpPr>
        <p:spPr>
          <a:xfrm>
            <a:off x="8961120" y="548640"/>
            <a:ext cx="822960" cy="822960"/>
          </a:xfrm>
          <a:prstGeom prst="roundRect">
            <a:avLst>
              <a:gd name="adj" fmla="val 11111"/>
            </a:avLst>
          </a:prstGeom>
          <a:solidFill>
            <a:schemeClr val="bg1"/>
          </a:solidFill>
          <a:ln w="12700">
            <a:solidFill>
              <a:schemeClr val="bg1"/>
            </a:solidFill>
            <a:prstDash val="solid"/>
          </a:ln>
        </p:spPr>
      </p:sp>
      <p:pic>
        <p:nvPicPr>
          <p:cNvPr id="10" name="icono portada transcribe" descr="C:\Users\Epine\OneDrive\Documentos\XrjEvolution\PasaTimes\Xperiments\Amezzi-Reu-X\docs\fuentes\iconos\transcribe.png">    </p:cNvPr>
          <p:cNvPicPr>
            <a:picLocks noChangeAspect="1"/>
          </p:cNvPicPr>
          <p:nvPr/>
        </p:nvPicPr>
        <p:blipFill>
          <a:blip r:embed="rId2"/>
          <a:stretch>
            <a:fillRect/>
          </a:stretch>
        </p:blipFill>
        <p:spPr>
          <a:xfrm>
            <a:off x="9052560" y="640080"/>
            <a:ext cx="640080" cy="640080"/>
          </a:xfrm>
          <a:prstGeom prst="rect">
            <a:avLst/>
          </a:prstGeom>
        </p:spPr>
      </p:pic>
      <p:sp>
        <p:nvSpPr>
          <p:cNvPr id="11" name="fondo portada bedrock"/>
          <p:cNvSpPr/>
          <p:nvPr/>
        </p:nvSpPr>
        <p:spPr>
          <a:xfrm>
            <a:off x="9921240" y="548640"/>
            <a:ext cx="822960" cy="822960"/>
          </a:xfrm>
          <a:prstGeom prst="roundRect">
            <a:avLst>
              <a:gd name="adj" fmla="val 11111"/>
            </a:avLst>
          </a:prstGeom>
          <a:solidFill>
            <a:schemeClr val="bg1"/>
          </a:solidFill>
          <a:ln w="12700">
            <a:solidFill>
              <a:schemeClr val="bg1"/>
            </a:solidFill>
            <a:prstDash val="solid"/>
          </a:ln>
        </p:spPr>
      </p:sp>
      <p:pic>
        <p:nvPicPr>
          <p:cNvPr id="12" name="icono portada bedrock" descr="C:\Users\Epine\OneDrive\Documentos\XrjEvolution\PasaTimes\Xperiments\Amezzi-Reu-X\docs\fuentes\iconos\bedrock.png">    </p:cNvPr>
          <p:cNvPicPr>
            <a:picLocks noChangeAspect="1"/>
          </p:cNvPicPr>
          <p:nvPr/>
        </p:nvPicPr>
        <p:blipFill>
          <a:blip r:embed="rId3"/>
          <a:stretch>
            <a:fillRect/>
          </a:stretch>
        </p:blipFill>
        <p:spPr>
          <a:xfrm>
            <a:off x="10012680" y="640080"/>
            <a:ext cx="640080" cy="640080"/>
          </a:xfrm>
          <a:prstGeom prst="rect">
            <a:avLst/>
          </a:prstGeom>
        </p:spPr>
      </p:pic>
      <p:sp>
        <p:nvSpPr>
          <p:cNvPr id="13" name="fondo portada ec2"/>
          <p:cNvSpPr/>
          <p:nvPr/>
        </p:nvSpPr>
        <p:spPr>
          <a:xfrm>
            <a:off x="10881360" y="548640"/>
            <a:ext cx="822960" cy="822960"/>
          </a:xfrm>
          <a:prstGeom prst="roundRect">
            <a:avLst>
              <a:gd name="adj" fmla="val 11111"/>
            </a:avLst>
          </a:prstGeom>
          <a:solidFill>
            <a:schemeClr val="bg1"/>
          </a:solidFill>
          <a:ln w="12700">
            <a:solidFill>
              <a:schemeClr val="bg1"/>
            </a:solidFill>
            <a:prstDash val="solid"/>
          </a:ln>
        </p:spPr>
      </p:sp>
      <p:pic>
        <p:nvPicPr>
          <p:cNvPr id="14" name="icono portada ec2" descr="C:\Users\Epine\OneDrive\Documentos\XrjEvolution\PasaTimes\Xperiments\Amezzi-Reu-X\docs\fuentes\iconos\ec2.png">    </p:cNvPr>
          <p:cNvPicPr>
            <a:picLocks noChangeAspect="1"/>
          </p:cNvPicPr>
          <p:nvPr/>
        </p:nvPicPr>
        <p:blipFill>
          <a:blip r:embed="rId4"/>
          <a:stretch>
            <a:fillRect/>
          </a:stretch>
        </p:blipFill>
        <p:spPr>
          <a:xfrm>
            <a:off x="10972800" y="64008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Agenda</a:t>
            </a:r>
            <a:endParaRPr lang="en-US" sz="3200" dirty="0"/>
          </a:p>
        </p:txBody>
      </p:sp>
      <p:sp>
        <p:nvSpPr>
          <p:cNvPr id="4" name="Text 1"/>
          <p:cNvSpPr txBox="1"/>
          <p:nvPr/>
        </p:nvSpPr>
        <p:spPr>
          <a:xfrm>
            <a:off x="548640" y="1371600"/>
            <a:ext cx="91440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01</a:t>
            </a:r>
            <a:endParaRPr lang="en-US" sz="3200" dirty="0"/>
          </a:p>
        </p:txBody>
      </p:sp>
      <p:sp>
        <p:nvSpPr>
          <p:cNvPr id="5" name="Text 2"/>
          <p:cNvSpPr txBox="1"/>
          <p:nvPr/>
        </p:nvSpPr>
        <p:spPr>
          <a:xfrm>
            <a:off x="1645920" y="1371600"/>
            <a:ext cx="3840480" cy="731520"/>
          </a:xfrm>
          <a:prstGeom prst="rect">
            <a:avLst/>
          </a:prstGeom>
          <a:noFill/>
          <a:ln/>
        </p:spPr>
        <p:txBody>
          <a:bodyPr wrap="square" lIns="0" tIns="0" rIns="0" bIns="0" rtlCol="0" anchor="ctr"/>
          <a:lstStyle/>
          <a:p>
            <a:pPr indent="0" marL="0">
              <a:buNone/>
            </a:pPr>
            <a:r>
              <a:rPr lang="en-US" sz="2200" b="1" dirty="0">
                <a:solidFill>
                  <a:schemeClr val="tx2"/>
                </a:solidFill>
              </a:rPr>
              <a:t>Contexto</a:t>
            </a:r>
            <a:endParaRPr lang="en-US" sz="2200" dirty="0"/>
          </a:p>
        </p:txBody>
      </p:sp>
      <p:sp>
        <p:nvSpPr>
          <p:cNvPr id="6" name="Text 3"/>
          <p:cNvSpPr txBox="1"/>
          <p:nvPr/>
        </p:nvSpPr>
        <p:spPr>
          <a:xfrm>
            <a:off x="5577840" y="1371600"/>
            <a:ext cx="6035040" cy="731520"/>
          </a:xfrm>
          <a:prstGeom prst="rect">
            <a:avLst/>
          </a:prstGeom>
          <a:noFill/>
          <a:ln/>
        </p:spPr>
        <p:txBody>
          <a:bodyPr wrap="square" lIns="0" tIns="0" rIns="0" bIns="0" rtlCol="0" anchor="ctr"/>
          <a:lstStyle/>
          <a:p>
            <a:pPr indent="0" marL="0">
              <a:buNone/>
            </a:pPr>
            <a:r>
              <a:rPr lang="en-US" sz="1600" dirty="0">
                <a:solidFill>
                  <a:schemeClr val="tx1"/>
                </a:solidFill>
              </a:rPr>
              <a:t>El problema, qué hace Reu-X y la arquitectura general</a:t>
            </a:r>
            <a:endParaRPr lang="en-US" sz="1600" dirty="0"/>
          </a:p>
        </p:txBody>
      </p:sp>
      <p:sp>
        <p:nvSpPr>
          <p:cNvPr id="7" name="Text 4"/>
          <p:cNvSpPr txBox="1"/>
          <p:nvPr/>
        </p:nvSpPr>
        <p:spPr>
          <a:xfrm>
            <a:off x="548640" y="2331720"/>
            <a:ext cx="91440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02</a:t>
            </a:r>
            <a:endParaRPr lang="en-US" sz="3200" dirty="0"/>
          </a:p>
        </p:txBody>
      </p:sp>
      <p:sp>
        <p:nvSpPr>
          <p:cNvPr id="8" name="Text 5"/>
          <p:cNvSpPr txBox="1"/>
          <p:nvPr/>
        </p:nvSpPr>
        <p:spPr>
          <a:xfrm>
            <a:off x="1645920" y="2331720"/>
            <a:ext cx="3840480" cy="731520"/>
          </a:xfrm>
          <a:prstGeom prst="rect">
            <a:avLst/>
          </a:prstGeom>
          <a:noFill/>
          <a:ln/>
        </p:spPr>
        <p:txBody>
          <a:bodyPr wrap="square" lIns="0" tIns="0" rIns="0" bIns="0" rtlCol="0" anchor="ctr"/>
          <a:lstStyle/>
          <a:p>
            <a:pPr indent="0" marL="0">
              <a:buNone/>
            </a:pPr>
            <a:r>
              <a:rPr lang="en-US" sz="2200" b="1" dirty="0">
                <a:solidFill>
                  <a:schemeClr val="tx2"/>
                </a:solidFill>
              </a:rPr>
              <a:t>Los servicios</a:t>
            </a:r>
            <a:endParaRPr lang="en-US" sz="2200" dirty="0"/>
          </a:p>
        </p:txBody>
      </p:sp>
      <p:sp>
        <p:nvSpPr>
          <p:cNvPr id="9" name="Text 6"/>
          <p:cNvSpPr txBox="1"/>
          <p:nvPr/>
        </p:nvSpPr>
        <p:spPr>
          <a:xfrm>
            <a:off x="5577840" y="2331720"/>
            <a:ext cx="6035040" cy="731520"/>
          </a:xfrm>
          <a:prstGeom prst="rect">
            <a:avLst/>
          </a:prstGeom>
          <a:noFill/>
          <a:ln/>
        </p:spPr>
        <p:txBody>
          <a:bodyPr wrap="square" lIns="0" tIns="0" rIns="0" bIns="0" rtlCol="0" anchor="ctr"/>
          <a:lstStyle/>
          <a:p>
            <a:pPr indent="0" marL="0">
              <a:buNone/>
            </a:pPr>
            <a:r>
              <a:rPr lang="en-US" sz="1600" dirty="0">
                <a:solidFill>
                  <a:schemeClr val="tx1"/>
                </a:solidFill>
              </a:rPr>
              <a:t>Qué hace cada servicio de AWS y cómo está configurado</a:t>
            </a:r>
            <a:endParaRPr lang="en-US" sz="1600" dirty="0"/>
          </a:p>
        </p:txBody>
      </p:sp>
      <p:sp>
        <p:nvSpPr>
          <p:cNvPr id="10" name="Text 7"/>
          <p:cNvSpPr txBox="1"/>
          <p:nvPr/>
        </p:nvSpPr>
        <p:spPr>
          <a:xfrm>
            <a:off x="548640" y="3291840"/>
            <a:ext cx="91440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03</a:t>
            </a:r>
            <a:endParaRPr lang="en-US" sz="3200" dirty="0"/>
          </a:p>
        </p:txBody>
      </p:sp>
      <p:sp>
        <p:nvSpPr>
          <p:cNvPr id="11" name="Text 8"/>
          <p:cNvSpPr txBox="1"/>
          <p:nvPr/>
        </p:nvSpPr>
        <p:spPr>
          <a:xfrm>
            <a:off x="1645920" y="3291840"/>
            <a:ext cx="3840480" cy="731520"/>
          </a:xfrm>
          <a:prstGeom prst="rect">
            <a:avLst/>
          </a:prstGeom>
          <a:noFill/>
          <a:ln/>
        </p:spPr>
        <p:txBody>
          <a:bodyPr wrap="square" lIns="0" tIns="0" rIns="0" bIns="0" rtlCol="0" anchor="ctr"/>
          <a:lstStyle/>
          <a:p>
            <a:pPr indent="0" marL="0">
              <a:buNone/>
            </a:pPr>
            <a:r>
              <a:rPr lang="en-US" sz="2200" b="1" dirty="0">
                <a:solidFill>
                  <a:schemeClr val="tx2"/>
                </a:solidFill>
              </a:rPr>
              <a:t>Cómo se conectan</a:t>
            </a:r>
            <a:endParaRPr lang="en-US" sz="2200" dirty="0"/>
          </a:p>
        </p:txBody>
      </p:sp>
      <p:sp>
        <p:nvSpPr>
          <p:cNvPr id="12" name="Text 9"/>
          <p:cNvSpPr txBox="1"/>
          <p:nvPr/>
        </p:nvSpPr>
        <p:spPr>
          <a:xfrm>
            <a:off x="5577840" y="3291840"/>
            <a:ext cx="6035040" cy="731520"/>
          </a:xfrm>
          <a:prstGeom prst="rect">
            <a:avLst/>
          </a:prstGeom>
          <a:noFill/>
          <a:ln/>
        </p:spPr>
        <p:txBody>
          <a:bodyPr wrap="square" lIns="0" tIns="0" rIns="0" bIns="0" rtlCol="0" anchor="ctr"/>
          <a:lstStyle/>
          <a:p>
            <a:pPr indent="0" marL="0">
              <a:buNone/>
            </a:pPr>
            <a:r>
              <a:rPr lang="en-US" sz="1600" dirty="0">
                <a:solidFill>
                  <a:schemeClr val="tx1"/>
                </a:solidFill>
              </a:rPr>
              <a:t>El recorrido de una reunión, de la grabación a la minuta</a:t>
            </a:r>
            <a:endParaRPr lang="en-US" sz="1600" dirty="0"/>
          </a:p>
        </p:txBody>
      </p:sp>
      <p:sp>
        <p:nvSpPr>
          <p:cNvPr id="13" name="Text 10"/>
          <p:cNvSpPr txBox="1"/>
          <p:nvPr/>
        </p:nvSpPr>
        <p:spPr>
          <a:xfrm>
            <a:off x="548640" y="4251960"/>
            <a:ext cx="91440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04</a:t>
            </a:r>
            <a:endParaRPr lang="en-US" sz="3200" dirty="0"/>
          </a:p>
        </p:txBody>
      </p:sp>
      <p:sp>
        <p:nvSpPr>
          <p:cNvPr id="14" name="Text 11"/>
          <p:cNvSpPr txBox="1"/>
          <p:nvPr/>
        </p:nvSpPr>
        <p:spPr>
          <a:xfrm>
            <a:off x="1645920" y="4251960"/>
            <a:ext cx="3840480" cy="731520"/>
          </a:xfrm>
          <a:prstGeom prst="rect">
            <a:avLst/>
          </a:prstGeom>
          <a:noFill/>
          <a:ln/>
        </p:spPr>
        <p:txBody>
          <a:bodyPr wrap="square" lIns="0" tIns="0" rIns="0" bIns="0" rtlCol="0" anchor="ctr"/>
          <a:lstStyle/>
          <a:p>
            <a:pPr indent="0" marL="0">
              <a:buNone/>
            </a:pPr>
            <a:r>
              <a:rPr lang="en-US" sz="2200" b="1" dirty="0">
                <a:solidFill>
                  <a:schemeClr val="tx2"/>
                </a:solidFill>
              </a:rPr>
              <a:t>Seguridad y operación</a:t>
            </a:r>
            <a:endParaRPr lang="en-US" sz="2200" dirty="0"/>
          </a:p>
        </p:txBody>
      </p:sp>
      <p:sp>
        <p:nvSpPr>
          <p:cNvPr id="15" name="Text 12"/>
          <p:cNvSpPr txBox="1"/>
          <p:nvPr/>
        </p:nvSpPr>
        <p:spPr>
          <a:xfrm>
            <a:off x="5577840" y="4251960"/>
            <a:ext cx="6035040" cy="731520"/>
          </a:xfrm>
          <a:prstGeom prst="rect">
            <a:avLst/>
          </a:prstGeom>
          <a:noFill/>
          <a:ln/>
        </p:spPr>
        <p:txBody>
          <a:bodyPr wrap="square" lIns="0" tIns="0" rIns="0" bIns="0" rtlCol="0" anchor="ctr"/>
          <a:lstStyle/>
          <a:p>
            <a:pPr indent="0" marL="0">
              <a:buNone/>
            </a:pPr>
            <a:r>
              <a:rPr lang="en-US" sz="1600" dirty="0">
                <a:solidFill>
                  <a:schemeClr val="tx1"/>
                </a:solidFill>
              </a:rPr>
              <a:t>Acceso, permisos, credenciales y publicación</a:t>
            </a:r>
            <a:endParaRPr lang="en-US" sz="1600" dirty="0"/>
          </a:p>
        </p:txBody>
      </p:sp>
      <p:sp>
        <p:nvSpPr>
          <p:cNvPr id="16" name="Text 13"/>
          <p:cNvSpPr txBox="1"/>
          <p:nvPr/>
        </p:nvSpPr>
        <p:spPr>
          <a:xfrm>
            <a:off x="548640" y="5212080"/>
            <a:ext cx="91440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05</a:t>
            </a:r>
            <a:endParaRPr lang="en-US" sz="3200" dirty="0"/>
          </a:p>
        </p:txBody>
      </p:sp>
      <p:sp>
        <p:nvSpPr>
          <p:cNvPr id="17" name="Text 14"/>
          <p:cNvSpPr txBox="1"/>
          <p:nvPr/>
        </p:nvSpPr>
        <p:spPr>
          <a:xfrm>
            <a:off x="1645920" y="5212080"/>
            <a:ext cx="3840480" cy="731520"/>
          </a:xfrm>
          <a:prstGeom prst="rect">
            <a:avLst/>
          </a:prstGeom>
          <a:noFill/>
          <a:ln/>
        </p:spPr>
        <p:txBody>
          <a:bodyPr wrap="square" lIns="0" tIns="0" rIns="0" bIns="0" rtlCol="0" anchor="ctr"/>
          <a:lstStyle/>
          <a:p>
            <a:pPr indent="0" marL="0">
              <a:buNone/>
            </a:pPr>
            <a:r>
              <a:rPr lang="en-US" sz="2200" b="1" dirty="0">
                <a:solidFill>
                  <a:schemeClr val="tx2"/>
                </a:solidFill>
              </a:rPr>
              <a:t>Costos y próximos pasos</a:t>
            </a:r>
            <a:endParaRPr lang="en-US" sz="2200" dirty="0"/>
          </a:p>
        </p:txBody>
      </p:sp>
      <p:sp>
        <p:nvSpPr>
          <p:cNvPr id="18" name="Text 15"/>
          <p:cNvSpPr txBox="1"/>
          <p:nvPr/>
        </p:nvSpPr>
        <p:spPr>
          <a:xfrm>
            <a:off x="5577840" y="5212080"/>
            <a:ext cx="6035040" cy="731520"/>
          </a:xfrm>
          <a:prstGeom prst="rect">
            <a:avLst/>
          </a:prstGeom>
          <a:noFill/>
          <a:ln/>
        </p:spPr>
        <p:txBody>
          <a:bodyPr wrap="square" lIns="0" tIns="0" rIns="0" bIns="0" rtlCol="0" anchor="ctr"/>
          <a:lstStyle/>
          <a:p>
            <a:pPr indent="0" marL="0">
              <a:buNone/>
            </a:pPr>
            <a:r>
              <a:rPr lang="en-US" sz="1600" dirty="0">
                <a:solidFill>
                  <a:schemeClr val="tx1"/>
                </a:solidFill>
              </a:rPr>
              <a:t>Cuánto cuesta, límites y mejoras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Contexto</a:t>
            </a:r>
            <a:endParaRPr lang="en-US" sz="4400" dirty="0"/>
          </a:p>
        </p:txBody>
      </p:sp>
      <p:sp>
        <p:nvSpPr>
          <p:cNvPr id="4" name="Text 0"/>
          <p:cNvSpPr/>
          <p:nvPr>
            <p:ph idx="101" type="body" hasCustomPrompt="1"/>
          </p:nvPr>
        </p:nvSpPr>
        <p:spPr>
          <a:xfrm>
            <a:off x="548640" y="3794760"/>
            <a:ext cx="10515600" cy="822960"/>
          </a:xfrm>
          <a:prstGeom prst="rect">
            <a:avLst/>
          </a:prstGeom>
          <a:noFill/>
          <a:ln/>
        </p:spPr>
        <p:txBody>
          <a:bodyPr wrap="square" lIns="0" tIns="0" rIns="0" bIns="0" rtlCol="0" anchor="t"/>
          <a:lstStyle/>
          <a:p>
            <a:pPr indent="0" marL="0">
              <a:buNone/>
            </a:pPr>
            <a:r>
              <a:rPr lang="en-US" sz="2000" dirty="0">
                <a:solidFill>
                  <a:schemeClr val="bg2"/>
                </a:solidFill>
              </a:rPr>
              <a:t>El problema y la solución en una mirada</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1F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El problema: documentar reuniones toma tiempo</a:t>
            </a:r>
            <a:endParaRPr lang="en-US" sz="3200" dirty="0"/>
          </a:p>
        </p:txBody>
      </p:sp>
      <p:sp>
        <p:nvSpPr>
          <p:cNvPr id="4" name="Text 1"/>
          <p:cNvSpPr txBox="1"/>
          <p:nvPr/>
        </p:nvSpPr>
        <p:spPr>
          <a:xfrm>
            <a:off x="548640" y="1554480"/>
            <a:ext cx="3291840" cy="914400"/>
          </a:xfrm>
          <a:prstGeom prst="rect">
            <a:avLst/>
          </a:prstGeom>
          <a:noFill/>
          <a:ln/>
        </p:spPr>
        <p:txBody>
          <a:bodyPr wrap="square" lIns="0" tIns="0" rIns="0" bIns="0" rtlCol="0" anchor="ctr"/>
          <a:lstStyle/>
          <a:p>
            <a:pPr indent="0" marL="0">
              <a:buNone/>
            </a:pPr>
            <a:r>
              <a:rPr lang="en-US" sz="4800" b="1" dirty="0">
                <a:solidFill>
                  <a:schemeClr val="accent6"/>
                </a:solidFill>
                <a:latin typeface="Cambria" pitchFamily="34" charset="0"/>
                <a:ea typeface="Cambria" pitchFamily="34" charset="-122"/>
                <a:cs typeface="Cambria" pitchFamily="34" charset="-120"/>
              </a:rPr>
              <a:t>1–2 h</a:t>
            </a:r>
            <a:endParaRPr lang="en-US" sz="4800" dirty="0"/>
          </a:p>
        </p:txBody>
      </p:sp>
      <p:sp>
        <p:nvSpPr>
          <p:cNvPr id="5" name="Text 2"/>
          <p:cNvSpPr txBox="1"/>
          <p:nvPr/>
        </p:nvSpPr>
        <p:spPr>
          <a:xfrm>
            <a:off x="548640" y="2468880"/>
            <a:ext cx="3291840" cy="640080"/>
          </a:xfrm>
          <a:prstGeom prst="rect">
            <a:avLst/>
          </a:prstGeom>
          <a:noFill/>
          <a:ln/>
        </p:spPr>
        <p:txBody>
          <a:bodyPr wrap="square" lIns="0" tIns="0" rIns="0" bIns="0" rtlCol="0" anchor="t"/>
          <a:lstStyle/>
          <a:p>
            <a:pPr indent="0" marL="0">
              <a:buNone/>
            </a:pPr>
            <a:r>
              <a:rPr lang="en-US" sz="1400" dirty="0">
                <a:solidFill>
                  <a:schemeClr val="tx1"/>
                </a:solidFill>
              </a:rPr>
              <a:t>para redactar a mano la minuta de una reunión de una hora</a:t>
            </a:r>
            <a:endParaRPr lang="en-US" sz="1400" dirty="0"/>
          </a:p>
        </p:txBody>
      </p:sp>
      <p:sp>
        <p:nvSpPr>
          <p:cNvPr id="6" name="Text 3"/>
          <p:cNvSpPr txBox="1"/>
          <p:nvPr/>
        </p:nvSpPr>
        <p:spPr>
          <a:xfrm>
            <a:off x="4206240" y="1554480"/>
            <a:ext cx="3291840" cy="91440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 1 min</a:t>
            </a:r>
            <a:endParaRPr lang="en-US" sz="4800" dirty="0"/>
          </a:p>
        </p:txBody>
      </p:sp>
      <p:sp>
        <p:nvSpPr>
          <p:cNvPr id="7" name="Text 4"/>
          <p:cNvSpPr txBox="1"/>
          <p:nvPr/>
        </p:nvSpPr>
        <p:spPr>
          <a:xfrm>
            <a:off x="4206240" y="2468880"/>
            <a:ext cx="3291840" cy="640080"/>
          </a:xfrm>
          <a:prstGeom prst="rect">
            <a:avLst/>
          </a:prstGeom>
          <a:noFill/>
          <a:ln/>
        </p:spPr>
        <p:txBody>
          <a:bodyPr wrap="square" lIns="0" tIns="0" rIns="0" bIns="0" rtlCol="0" anchor="t"/>
          <a:lstStyle/>
          <a:p>
            <a:pPr indent="0" marL="0">
              <a:buNone/>
            </a:pPr>
            <a:r>
              <a:rPr lang="en-US" sz="1400" dirty="0">
                <a:solidFill>
                  <a:schemeClr val="tx1"/>
                </a:solidFill>
              </a:rPr>
              <a:t>de redacción automática una vez transcrito el audio</a:t>
            </a:r>
            <a:endParaRPr lang="en-US" sz="1400" dirty="0"/>
          </a:p>
        </p:txBody>
      </p:sp>
      <p:sp>
        <p:nvSpPr>
          <p:cNvPr id="8" name="Text 5"/>
          <p:cNvSpPr txBox="1"/>
          <p:nvPr/>
        </p:nvSpPr>
        <p:spPr>
          <a:xfrm>
            <a:off x="7863840" y="1554480"/>
            <a:ext cx="356616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6 formatos</a:t>
            </a:r>
            <a:endParaRPr lang="en-US" sz="4800" dirty="0"/>
          </a:p>
        </p:txBody>
      </p:sp>
      <p:sp>
        <p:nvSpPr>
          <p:cNvPr id="9" name="Text 6"/>
          <p:cNvSpPr txBox="1"/>
          <p:nvPr/>
        </p:nvSpPr>
        <p:spPr>
          <a:xfrm>
            <a:off x="7863840" y="2468880"/>
            <a:ext cx="3566160" cy="640080"/>
          </a:xfrm>
          <a:prstGeom prst="rect">
            <a:avLst/>
          </a:prstGeom>
          <a:noFill/>
          <a:ln/>
        </p:spPr>
        <p:txBody>
          <a:bodyPr wrap="square" lIns="0" tIns="0" rIns="0" bIns="0" rtlCol="0" anchor="t"/>
          <a:lstStyle/>
          <a:p>
            <a:pPr indent="0" marL="0">
              <a:buNone/>
            </a:pPr>
            <a:r>
              <a:rPr lang="en-US" sz="1400" dirty="0">
                <a:solidFill>
                  <a:schemeClr val="tx1"/>
                </a:solidFill>
              </a:rPr>
              <a:t>minuta Word/PDF/Markdown, mapa mental, infografía y diagramas</a:t>
            </a:r>
            <a:endParaRPr lang="en-US" sz="1400" dirty="0"/>
          </a:p>
        </p:txBody>
      </p:sp>
      <p:sp>
        <p:nvSpPr>
          <p:cNvPr id="10" name="Text 7"/>
          <p:cNvSpPr txBox="1"/>
          <p:nvPr/>
        </p:nvSpPr>
        <p:spPr>
          <a:xfrm>
            <a:off x="548640" y="4160520"/>
            <a:ext cx="1097280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Las notas manuales pierden acuerdos, responsables y fechas</a:t>
            </a:r>
            <a:endParaRPr lang="en-US" sz="1600" dirty="0"/>
          </a:p>
          <a:p>
            <a:pPr marL="342900" indent="-342900">
              <a:spcAft>
                <a:spcPts val="800"/>
              </a:spcAft>
              <a:buSzPct val="100000"/>
              <a:buChar char="•"/>
            </a:pPr>
            <a:r>
              <a:rPr lang="en-US" sz="1600" dirty="0">
                <a:solidFill>
                  <a:schemeClr val="tx1"/>
                </a:solidFill>
              </a:rPr>
              <a:t>Cada persona redacta con un formato distinto</a:t>
            </a:r>
            <a:endParaRPr lang="en-US" sz="1600" dirty="0"/>
          </a:p>
          <a:p>
            <a:pPr marL="342900" indent="-342900">
              <a:spcAft>
                <a:spcPts val="800"/>
              </a:spcAft>
              <a:buSzPct val="100000"/>
              <a:buChar char="•"/>
            </a:pPr>
            <a:r>
              <a:rPr lang="en-US" sz="1600" dirty="0">
                <a:solidFill>
                  <a:schemeClr val="tx1"/>
                </a:solidFill>
              </a:rPr>
              <a:t>Compartir la información visualmente requiere otra herramienta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Qué hace Reu-X</a:t>
            </a:r>
            <a:endParaRPr lang="en-US" sz="3200" dirty="0"/>
          </a:p>
        </p:txBody>
      </p:sp>
      <p:sp>
        <p:nvSpPr>
          <p:cNvPr id="4" name="tarjeta Entrada"/>
          <p:cNvSpPr/>
          <p:nvPr/>
        </p:nvSpPr>
        <p:spPr>
          <a:xfrm>
            <a:off x="548640" y="1371600"/>
            <a:ext cx="3520440" cy="448056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5" name="fondo icono Entrada"/>
          <p:cNvSpPr/>
          <p:nvPr/>
        </p:nvSpPr>
        <p:spPr>
          <a:xfrm>
            <a:off x="777240" y="1600200"/>
            <a:ext cx="685800" cy="685800"/>
          </a:xfrm>
          <a:prstGeom prst="roundRect">
            <a:avLst>
              <a:gd name="adj" fmla="val 13333"/>
            </a:avLst>
          </a:prstGeom>
          <a:solidFill>
            <a:schemeClr val="bg1"/>
          </a:solidFill>
          <a:ln w="12700">
            <a:solidFill>
              <a:schemeClr val="bg1"/>
            </a:solidFill>
            <a:prstDash val="solid"/>
          </a:ln>
        </p:spPr>
      </p:sp>
      <p:pic>
        <p:nvPicPr>
          <p:cNvPr id="6" name="icono Entrada" descr="C:\Users\Epine\OneDrive\Documentos\XrjEvolution\PasaTimes\Xperiments\Amezzi-Reu-X\docs\fuentes\iconos\usuarios.png">    </p:cNvPr>
          <p:cNvPicPr>
            <a:picLocks noChangeAspect="1"/>
          </p:cNvPicPr>
          <p:nvPr/>
        </p:nvPicPr>
        <p:blipFill>
          <a:blip r:embed="rId1"/>
          <a:stretch>
            <a:fillRect/>
          </a:stretch>
        </p:blipFill>
        <p:spPr>
          <a:xfrm>
            <a:off x="841248" y="1664208"/>
            <a:ext cx="557784" cy="557784"/>
          </a:xfrm>
          <a:prstGeom prst="rect">
            <a:avLst/>
          </a:prstGeom>
        </p:spPr>
      </p:pic>
      <p:sp>
        <p:nvSpPr>
          <p:cNvPr id="7" name="Text 3"/>
          <p:cNvSpPr txBox="1"/>
          <p:nvPr/>
        </p:nvSpPr>
        <p:spPr>
          <a:xfrm>
            <a:off x="1645920" y="155448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Entrada</a:t>
            </a:r>
            <a:endParaRPr lang="en-US" sz="1700" dirty="0"/>
          </a:p>
        </p:txBody>
      </p:sp>
      <p:sp>
        <p:nvSpPr>
          <p:cNvPr id="8" name="Text 4"/>
          <p:cNvSpPr txBox="1"/>
          <p:nvPr/>
        </p:nvSpPr>
        <p:spPr>
          <a:xfrm>
            <a:off x="777240" y="2423160"/>
            <a:ext cx="3063240" cy="32918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Grabación de audio o video (MP3, MP4, M4A, WAV…, hasta 2 GB)</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O texto: transcripción, notas o chat</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Datos opcionales: título, fecha, lugar, participantes</a:t>
            </a:r>
            <a:endParaRPr lang="en-US" sz="1400" dirty="0"/>
          </a:p>
        </p:txBody>
      </p:sp>
      <p:sp>
        <p:nvSpPr>
          <p:cNvPr id="9" name="tarjeta Proceso"/>
          <p:cNvSpPr/>
          <p:nvPr/>
        </p:nvSpPr>
        <p:spPr>
          <a:xfrm>
            <a:off x="4334256" y="1371600"/>
            <a:ext cx="3520440" cy="448056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0" name="fondo icono Proceso"/>
          <p:cNvSpPr/>
          <p:nvPr/>
        </p:nvSpPr>
        <p:spPr>
          <a:xfrm>
            <a:off x="4562856" y="1600200"/>
            <a:ext cx="685800" cy="685800"/>
          </a:xfrm>
          <a:prstGeom prst="roundRect">
            <a:avLst>
              <a:gd name="adj" fmla="val 13333"/>
            </a:avLst>
          </a:prstGeom>
          <a:solidFill>
            <a:schemeClr val="bg1"/>
          </a:solidFill>
          <a:ln w="12700">
            <a:solidFill>
              <a:schemeClr val="bg1"/>
            </a:solidFill>
            <a:prstDash val="solid"/>
          </a:ln>
        </p:spPr>
      </p:sp>
      <p:pic>
        <p:nvPicPr>
          <p:cNvPr id="11" name="icono Proceso" descr="C:\Users\Epine\OneDrive\Documentos\XrjEvolution\PasaTimes\Xperiments\Amezzi-Reu-X\docs\fuentes\iconos\bedrock.png">    </p:cNvPr>
          <p:cNvPicPr>
            <a:picLocks noChangeAspect="1"/>
          </p:cNvPicPr>
          <p:nvPr/>
        </p:nvPicPr>
        <p:blipFill>
          <a:blip r:embed="rId2"/>
          <a:stretch>
            <a:fillRect/>
          </a:stretch>
        </p:blipFill>
        <p:spPr>
          <a:xfrm>
            <a:off x="4626864" y="1664208"/>
            <a:ext cx="557784" cy="557784"/>
          </a:xfrm>
          <a:prstGeom prst="rect">
            <a:avLst/>
          </a:prstGeom>
        </p:spPr>
      </p:pic>
      <p:sp>
        <p:nvSpPr>
          <p:cNvPr id="12" name="Text 7"/>
          <p:cNvSpPr txBox="1"/>
          <p:nvPr/>
        </p:nvSpPr>
        <p:spPr>
          <a:xfrm>
            <a:off x="5431536" y="155448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Proceso</a:t>
            </a:r>
            <a:endParaRPr lang="en-US" sz="1700" dirty="0"/>
          </a:p>
        </p:txBody>
      </p:sp>
      <p:sp>
        <p:nvSpPr>
          <p:cNvPr id="13" name="Text 8"/>
          <p:cNvSpPr txBox="1"/>
          <p:nvPr/>
        </p:nvSpPr>
        <p:spPr>
          <a:xfrm>
            <a:off x="4562856" y="2423160"/>
            <a:ext cx="3063240" cy="32918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Voz a texto con identificación de hablantes</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Redacción con Claude: temas, acuerdos, tareas y responsables</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Salida estructurada y validada</a:t>
            </a:r>
            <a:endParaRPr lang="en-US" sz="1400" dirty="0"/>
          </a:p>
        </p:txBody>
      </p:sp>
      <p:sp>
        <p:nvSpPr>
          <p:cNvPr id="14" name="tarjeta Salida"/>
          <p:cNvSpPr/>
          <p:nvPr/>
        </p:nvSpPr>
        <p:spPr>
          <a:xfrm>
            <a:off x="8119872" y="1371600"/>
            <a:ext cx="3520440" cy="448056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5" name="fondo icono Salida"/>
          <p:cNvSpPr/>
          <p:nvPr/>
        </p:nvSpPr>
        <p:spPr>
          <a:xfrm>
            <a:off x="8348472" y="1600200"/>
            <a:ext cx="685800" cy="685800"/>
          </a:xfrm>
          <a:prstGeom prst="roundRect">
            <a:avLst>
              <a:gd name="adj" fmla="val 13333"/>
            </a:avLst>
          </a:prstGeom>
          <a:solidFill>
            <a:schemeClr val="bg1"/>
          </a:solidFill>
          <a:ln w="12700">
            <a:solidFill>
              <a:schemeClr val="bg1"/>
            </a:solidFill>
            <a:prstDash val="solid"/>
          </a:ln>
        </p:spPr>
      </p:sp>
      <p:pic>
        <p:nvPicPr>
          <p:cNvPr id="16" name="icono Salida" descr="C:\Users\Epine\OneDrive\Documentos\XrjEvolution\PasaTimes\Xperiments\Amezzi-Reu-X\docs\fuentes\iconos\s3.png">    </p:cNvPr>
          <p:cNvPicPr>
            <a:picLocks noChangeAspect="1"/>
          </p:cNvPicPr>
          <p:nvPr/>
        </p:nvPicPr>
        <p:blipFill>
          <a:blip r:embed="rId3"/>
          <a:stretch>
            <a:fillRect/>
          </a:stretch>
        </p:blipFill>
        <p:spPr>
          <a:xfrm>
            <a:off x="8412480" y="1664208"/>
            <a:ext cx="557784" cy="557784"/>
          </a:xfrm>
          <a:prstGeom prst="rect">
            <a:avLst/>
          </a:prstGeom>
        </p:spPr>
      </p:pic>
      <p:sp>
        <p:nvSpPr>
          <p:cNvPr id="17" name="Text 11"/>
          <p:cNvSpPr txBox="1"/>
          <p:nvPr/>
        </p:nvSpPr>
        <p:spPr>
          <a:xfrm>
            <a:off x="9217152" y="155448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Salida</a:t>
            </a:r>
            <a:endParaRPr lang="en-US" sz="1700" dirty="0"/>
          </a:p>
        </p:txBody>
      </p:sp>
      <p:sp>
        <p:nvSpPr>
          <p:cNvPr id="18" name="Text 12"/>
          <p:cNvSpPr txBox="1"/>
          <p:nvPr/>
        </p:nvSpPr>
        <p:spPr>
          <a:xfrm>
            <a:off x="8348472" y="2423160"/>
            <a:ext cx="3063240" cy="32918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Minuta formal en Word, PDF o Markdown</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Mapa mental, infografía, diagrama de flujo y de responsables</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Transcripción editable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Principios de diseño</a:t>
            </a:r>
            <a:endParaRPr lang="en-US" sz="3200" dirty="0"/>
          </a:p>
        </p:txBody>
      </p:sp>
      <p:sp>
        <p:nvSpPr>
          <p:cNvPr id="4" name="tarjeta Todo en AWS"/>
          <p:cNvSpPr/>
          <p:nvPr/>
        </p:nvSpPr>
        <p:spPr>
          <a:xfrm>
            <a:off x="548640" y="1371600"/>
            <a:ext cx="539496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5" name="fondo icono Todo en AWS"/>
          <p:cNvSpPr/>
          <p:nvPr/>
        </p:nvSpPr>
        <p:spPr>
          <a:xfrm>
            <a:off x="777240" y="1600200"/>
            <a:ext cx="685800" cy="685800"/>
          </a:xfrm>
          <a:prstGeom prst="roundRect">
            <a:avLst>
              <a:gd name="adj" fmla="val 13333"/>
            </a:avLst>
          </a:prstGeom>
          <a:solidFill>
            <a:schemeClr val="bg1"/>
          </a:solidFill>
          <a:ln w="12700">
            <a:solidFill>
              <a:schemeClr val="bg1"/>
            </a:solidFill>
            <a:prstDash val="solid"/>
          </a:ln>
        </p:spPr>
      </p:sp>
      <p:pic>
        <p:nvPicPr>
          <p:cNvPr id="6" name="icono Todo en AWS" descr="C:\Users\Epine\OneDrive\Documentos\XrjEvolution\PasaTimes\Xperiments\Amezzi-Reu-X\docs\fuentes\iconos\ec2.png">    </p:cNvPr>
          <p:cNvPicPr>
            <a:picLocks noChangeAspect="1"/>
          </p:cNvPicPr>
          <p:nvPr/>
        </p:nvPicPr>
        <p:blipFill>
          <a:blip r:embed="rId1"/>
          <a:stretch>
            <a:fillRect/>
          </a:stretch>
        </p:blipFill>
        <p:spPr>
          <a:xfrm>
            <a:off x="841248" y="1664208"/>
            <a:ext cx="557784" cy="557784"/>
          </a:xfrm>
          <a:prstGeom prst="rect">
            <a:avLst/>
          </a:prstGeom>
        </p:spPr>
      </p:pic>
      <p:sp>
        <p:nvSpPr>
          <p:cNvPr id="7" name="Text 3"/>
          <p:cNvSpPr txBox="1"/>
          <p:nvPr/>
        </p:nvSpPr>
        <p:spPr>
          <a:xfrm>
            <a:off x="1645920" y="1554480"/>
            <a:ext cx="4114800" cy="457200"/>
          </a:xfrm>
          <a:prstGeom prst="rect">
            <a:avLst/>
          </a:prstGeom>
          <a:noFill/>
          <a:ln/>
        </p:spPr>
        <p:txBody>
          <a:bodyPr wrap="square" lIns="0" tIns="0" rIns="0" bIns="0" rtlCol="0" anchor="ctr"/>
          <a:lstStyle/>
          <a:p>
            <a:pPr indent="0" marL="0">
              <a:buNone/>
            </a:pPr>
            <a:r>
              <a:rPr lang="en-US" sz="1700" b="1" dirty="0">
                <a:solidFill>
                  <a:schemeClr val="tx2"/>
                </a:solidFill>
              </a:rPr>
              <a:t>Todo en AWS</a:t>
            </a:r>
            <a:endParaRPr lang="en-US" sz="1700" dirty="0"/>
          </a:p>
        </p:txBody>
      </p:sp>
      <p:sp>
        <p:nvSpPr>
          <p:cNvPr id="8" name="Text 4"/>
          <p:cNvSpPr txBox="1"/>
          <p:nvPr/>
        </p:nvSpPr>
        <p:spPr>
          <a:xfrm>
            <a:off x="777240" y="2423160"/>
            <a:ext cx="4937760"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Una sola cuenta y región (us-west-1): cómputo, almacenamiento, voz e IA</a:t>
            </a:r>
            <a:endParaRPr lang="en-US" sz="1400" dirty="0"/>
          </a:p>
        </p:txBody>
      </p:sp>
      <p:sp>
        <p:nvSpPr>
          <p:cNvPr id="9" name="tarjeta Archivos directo a S3"/>
          <p:cNvSpPr/>
          <p:nvPr/>
        </p:nvSpPr>
        <p:spPr>
          <a:xfrm>
            <a:off x="6190488" y="1371600"/>
            <a:ext cx="539496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0" name="fondo icono Archivos directo a S3"/>
          <p:cNvSpPr/>
          <p:nvPr/>
        </p:nvSpPr>
        <p:spPr>
          <a:xfrm>
            <a:off x="6419088" y="1600200"/>
            <a:ext cx="685800" cy="685800"/>
          </a:xfrm>
          <a:prstGeom prst="roundRect">
            <a:avLst>
              <a:gd name="adj" fmla="val 13333"/>
            </a:avLst>
          </a:prstGeom>
          <a:solidFill>
            <a:schemeClr val="bg1"/>
          </a:solidFill>
          <a:ln w="12700">
            <a:solidFill>
              <a:schemeClr val="bg1"/>
            </a:solidFill>
            <a:prstDash val="solid"/>
          </a:ln>
        </p:spPr>
      </p:sp>
      <p:pic>
        <p:nvPicPr>
          <p:cNvPr id="11" name="icono Archivos directo a S3" descr="C:\Users\Epine\OneDrive\Documentos\XrjEvolution\PasaTimes\Xperiments\Amezzi-Reu-X\docs\fuentes\iconos\s3.png">    </p:cNvPr>
          <p:cNvPicPr>
            <a:picLocks noChangeAspect="1"/>
          </p:cNvPicPr>
          <p:nvPr/>
        </p:nvPicPr>
        <p:blipFill>
          <a:blip r:embed="rId2"/>
          <a:stretch>
            <a:fillRect/>
          </a:stretch>
        </p:blipFill>
        <p:spPr>
          <a:xfrm>
            <a:off x="6483096" y="1664208"/>
            <a:ext cx="557784" cy="557784"/>
          </a:xfrm>
          <a:prstGeom prst="rect">
            <a:avLst/>
          </a:prstGeom>
        </p:spPr>
      </p:pic>
      <p:sp>
        <p:nvSpPr>
          <p:cNvPr id="12" name="Text 7"/>
          <p:cNvSpPr txBox="1"/>
          <p:nvPr/>
        </p:nvSpPr>
        <p:spPr>
          <a:xfrm>
            <a:off x="7287768" y="1554480"/>
            <a:ext cx="4114800" cy="457200"/>
          </a:xfrm>
          <a:prstGeom prst="rect">
            <a:avLst/>
          </a:prstGeom>
          <a:noFill/>
          <a:ln/>
        </p:spPr>
        <p:txBody>
          <a:bodyPr wrap="square" lIns="0" tIns="0" rIns="0" bIns="0" rtlCol="0" anchor="ctr"/>
          <a:lstStyle/>
          <a:p>
            <a:pPr indent="0" marL="0">
              <a:buNone/>
            </a:pPr>
            <a:r>
              <a:rPr lang="en-US" sz="1700" b="1" dirty="0">
                <a:solidFill>
                  <a:schemeClr val="tx2"/>
                </a:solidFill>
              </a:rPr>
              <a:t>Archivos directo a S3</a:t>
            </a:r>
            <a:endParaRPr lang="en-US" sz="1700" dirty="0"/>
          </a:p>
        </p:txBody>
      </p:sp>
      <p:sp>
        <p:nvSpPr>
          <p:cNvPr id="13" name="Text 8"/>
          <p:cNvSpPr txBox="1"/>
          <p:nvPr/>
        </p:nvSpPr>
        <p:spPr>
          <a:xfrm>
            <a:off x="6419088" y="2423160"/>
            <a:ext cx="4937760"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El navegador sube la grabación con una URL firmada; el servidor no carga el video</a:t>
            </a:r>
            <a:endParaRPr lang="en-US" sz="1400" dirty="0"/>
          </a:p>
        </p:txBody>
      </p:sp>
      <p:sp>
        <p:nvSpPr>
          <p:cNvPr id="14" name="tarjeta IA con formato estricto"/>
          <p:cNvSpPr/>
          <p:nvPr/>
        </p:nvSpPr>
        <p:spPr>
          <a:xfrm>
            <a:off x="548640" y="3703320"/>
            <a:ext cx="539496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5" name="fondo icono IA con formato estricto"/>
          <p:cNvSpPr/>
          <p:nvPr/>
        </p:nvSpPr>
        <p:spPr>
          <a:xfrm>
            <a:off x="777240" y="3931920"/>
            <a:ext cx="685800" cy="685800"/>
          </a:xfrm>
          <a:prstGeom prst="roundRect">
            <a:avLst>
              <a:gd name="adj" fmla="val 13333"/>
            </a:avLst>
          </a:prstGeom>
          <a:solidFill>
            <a:schemeClr val="bg1"/>
          </a:solidFill>
          <a:ln w="12700">
            <a:solidFill>
              <a:schemeClr val="bg1"/>
            </a:solidFill>
            <a:prstDash val="solid"/>
          </a:ln>
        </p:spPr>
      </p:sp>
      <p:pic>
        <p:nvPicPr>
          <p:cNvPr id="16" name="icono IA con formato estricto" descr="C:\Users\Epine\OneDrive\Documentos\XrjEvolution\PasaTimes\Xperiments\Amezzi-Reu-X\docs\fuentes\iconos\bedrock.png">    </p:cNvPr>
          <p:cNvPicPr>
            <a:picLocks noChangeAspect="1"/>
          </p:cNvPicPr>
          <p:nvPr/>
        </p:nvPicPr>
        <p:blipFill>
          <a:blip r:embed="rId3"/>
          <a:stretch>
            <a:fillRect/>
          </a:stretch>
        </p:blipFill>
        <p:spPr>
          <a:xfrm>
            <a:off x="841248" y="3995928"/>
            <a:ext cx="557784" cy="557784"/>
          </a:xfrm>
          <a:prstGeom prst="rect">
            <a:avLst/>
          </a:prstGeom>
        </p:spPr>
      </p:pic>
      <p:sp>
        <p:nvSpPr>
          <p:cNvPr id="17" name="Text 11"/>
          <p:cNvSpPr txBox="1"/>
          <p:nvPr/>
        </p:nvSpPr>
        <p:spPr>
          <a:xfrm>
            <a:off x="1645920" y="3886200"/>
            <a:ext cx="4114800" cy="457200"/>
          </a:xfrm>
          <a:prstGeom prst="rect">
            <a:avLst/>
          </a:prstGeom>
          <a:noFill/>
          <a:ln/>
        </p:spPr>
        <p:txBody>
          <a:bodyPr wrap="square" lIns="0" tIns="0" rIns="0" bIns="0" rtlCol="0" anchor="ctr"/>
          <a:lstStyle/>
          <a:p>
            <a:pPr indent="0" marL="0">
              <a:buNone/>
            </a:pPr>
            <a:r>
              <a:rPr lang="en-US" sz="1700" b="1" dirty="0">
                <a:solidFill>
                  <a:schemeClr val="tx2"/>
                </a:solidFill>
              </a:rPr>
              <a:t>IA con formato estricto</a:t>
            </a:r>
            <a:endParaRPr lang="en-US" sz="1700" dirty="0"/>
          </a:p>
        </p:txBody>
      </p:sp>
      <p:sp>
        <p:nvSpPr>
          <p:cNvPr id="18" name="Text 12"/>
          <p:cNvSpPr txBox="1"/>
          <p:nvPr/>
        </p:nvSpPr>
        <p:spPr>
          <a:xfrm>
            <a:off x="777240" y="4754880"/>
            <a:ext cx="4937760"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Claude devuelve JSON validado contra un esquema, no texto libre</a:t>
            </a:r>
            <a:endParaRPr lang="en-US" sz="1400" dirty="0"/>
          </a:p>
        </p:txBody>
      </p:sp>
      <p:sp>
        <p:nvSpPr>
          <p:cNvPr id="19" name="tarjeta Seguridad por capas"/>
          <p:cNvSpPr/>
          <p:nvPr/>
        </p:nvSpPr>
        <p:spPr>
          <a:xfrm>
            <a:off x="6190488" y="3703320"/>
            <a:ext cx="539496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20" name="fondo icono Seguridad por capas"/>
          <p:cNvSpPr/>
          <p:nvPr/>
        </p:nvSpPr>
        <p:spPr>
          <a:xfrm>
            <a:off x="6419088" y="3931920"/>
            <a:ext cx="685800" cy="685800"/>
          </a:xfrm>
          <a:prstGeom prst="roundRect">
            <a:avLst>
              <a:gd name="adj" fmla="val 13333"/>
            </a:avLst>
          </a:prstGeom>
          <a:solidFill>
            <a:schemeClr val="bg1"/>
          </a:solidFill>
          <a:ln w="12700">
            <a:solidFill>
              <a:schemeClr val="bg1"/>
            </a:solidFill>
            <a:prstDash val="solid"/>
          </a:ln>
        </p:spPr>
      </p:sp>
      <p:pic>
        <p:nvPicPr>
          <p:cNvPr id="21" name="icono Seguridad por capas" descr="C:\Users\Epine\OneDrive\Documentos\XrjEvolution\PasaTimes\Xperiments\Amezzi-Reu-X\docs\fuentes\iconos\iam.png">    </p:cNvPr>
          <p:cNvPicPr>
            <a:picLocks noChangeAspect="1"/>
          </p:cNvPicPr>
          <p:nvPr/>
        </p:nvPicPr>
        <p:blipFill>
          <a:blip r:embed="rId4"/>
          <a:stretch>
            <a:fillRect/>
          </a:stretch>
        </p:blipFill>
        <p:spPr>
          <a:xfrm>
            <a:off x="6483096" y="3995928"/>
            <a:ext cx="557784" cy="557784"/>
          </a:xfrm>
          <a:prstGeom prst="rect">
            <a:avLst/>
          </a:prstGeom>
        </p:spPr>
      </p:pic>
      <p:sp>
        <p:nvSpPr>
          <p:cNvPr id="22" name="Text 15"/>
          <p:cNvSpPr txBox="1"/>
          <p:nvPr/>
        </p:nvSpPr>
        <p:spPr>
          <a:xfrm>
            <a:off x="7287768" y="3886200"/>
            <a:ext cx="4114800" cy="457200"/>
          </a:xfrm>
          <a:prstGeom prst="rect">
            <a:avLst/>
          </a:prstGeom>
          <a:noFill/>
          <a:ln/>
        </p:spPr>
        <p:txBody>
          <a:bodyPr wrap="square" lIns="0" tIns="0" rIns="0" bIns="0" rtlCol="0" anchor="ctr"/>
          <a:lstStyle/>
          <a:p>
            <a:pPr indent="0" marL="0">
              <a:buNone/>
            </a:pPr>
            <a:r>
              <a:rPr lang="en-US" sz="1700" b="1" dirty="0">
                <a:solidFill>
                  <a:schemeClr val="tx2"/>
                </a:solidFill>
              </a:rPr>
              <a:t>Seguridad por capas</a:t>
            </a:r>
            <a:endParaRPr lang="en-US" sz="1700" dirty="0"/>
          </a:p>
        </p:txBody>
      </p:sp>
      <p:sp>
        <p:nvSpPr>
          <p:cNvPr id="23" name="Text 16"/>
          <p:cNvSpPr txBox="1"/>
          <p:nvPr/>
        </p:nvSpPr>
        <p:spPr>
          <a:xfrm>
            <a:off x="6419088" y="4754880"/>
            <a:ext cx="4937760"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HTTPS, sesión firmada, perfiles, cuotas y permisos mínimos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Arquitectura general en AWS</a:t>
            </a:r>
            <a:endParaRPr lang="en-US" sz="3200" dirty="0"/>
          </a:p>
        </p:txBody>
      </p:sp>
      <p:pic>
        <p:nvPicPr>
          <p:cNvPr id="4" name="diagrama arquitectura AWS" descr="C:\Users\Epine\OneDrive\Documentos\XrjEvolution\PasaTimes\Xperiments\Amezzi-Reu-X\docs\Reu-X_Arquitectura_AWS.png">    </p:cNvPr>
          <p:cNvPicPr>
            <a:picLocks noChangeAspect="1"/>
          </p:cNvPicPr>
          <p:nvPr/>
        </p:nvPicPr>
        <p:blipFill>
          <a:blip r:embed="rId1"/>
          <a:stretch>
            <a:fillRect/>
          </a:stretch>
        </p:blipFill>
        <p:spPr>
          <a:xfrm>
            <a:off x="1996874" y="1188720"/>
            <a:ext cx="8197948" cy="507492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Los servicios</a:t>
            </a:r>
            <a:endParaRPr lang="en-US" sz="4400" dirty="0"/>
          </a:p>
        </p:txBody>
      </p:sp>
      <p:sp>
        <p:nvSpPr>
          <p:cNvPr id="4" name="Text 0"/>
          <p:cNvSpPr/>
          <p:nvPr>
            <p:ph idx="101" type="body" hasCustomPrompt="1"/>
          </p:nvPr>
        </p:nvSpPr>
        <p:spPr>
          <a:xfrm>
            <a:off x="548640" y="3794760"/>
            <a:ext cx="10515600" cy="822960"/>
          </a:xfrm>
          <a:prstGeom prst="rect">
            <a:avLst/>
          </a:prstGeom>
          <a:noFill/>
          <a:ln/>
        </p:spPr>
        <p:txBody>
          <a:bodyPr wrap="square" lIns="0" tIns="0" rIns="0" bIns="0" rtlCol="0" anchor="t"/>
          <a:lstStyle/>
          <a:p>
            <a:pPr indent="0" marL="0">
              <a:buNone/>
            </a:pPr>
            <a:r>
              <a:rPr lang="en-US" sz="2000" dirty="0">
                <a:solidFill>
                  <a:schemeClr val="bg2"/>
                </a:solidFill>
              </a:rPr>
              <a:t>Qué hace cada servicio de AWS en Reu-X</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1F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Mapa de servicios</a:t>
            </a:r>
            <a:endParaRPr lang="en-US" sz="3200" dirty="0"/>
          </a:p>
        </p:txBody>
      </p:sp>
      <p:sp>
        <p:nvSpPr>
          <p:cNvPr id="4" name="servicio EC2"/>
          <p:cNvSpPr/>
          <p:nvPr/>
        </p:nvSpPr>
        <p:spPr>
          <a:xfrm>
            <a:off x="548640" y="141732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5" name="icono EC2" descr="C:\Users\Epine\OneDrive\Documentos\XrjEvolution\PasaTimes\Xperiments\Amezzi-Reu-X\docs\fuentes\iconos\ec2.png">    </p:cNvPr>
          <p:cNvPicPr>
            <a:picLocks noChangeAspect="1"/>
          </p:cNvPicPr>
          <p:nvPr/>
        </p:nvPicPr>
        <p:blipFill>
          <a:blip r:embed="rId1"/>
          <a:stretch>
            <a:fillRect/>
          </a:stretch>
        </p:blipFill>
        <p:spPr>
          <a:xfrm>
            <a:off x="1097280" y="1645920"/>
            <a:ext cx="914400" cy="914400"/>
          </a:xfrm>
          <a:prstGeom prst="rect">
            <a:avLst/>
          </a:prstGeom>
        </p:spPr>
      </p:pic>
      <p:sp>
        <p:nvSpPr>
          <p:cNvPr id="6" name="Text 2"/>
          <p:cNvSpPr txBox="1"/>
          <p:nvPr/>
        </p:nvSpPr>
        <p:spPr>
          <a:xfrm>
            <a:off x="640080" y="265176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EC2</a:t>
            </a:r>
            <a:endParaRPr lang="en-US" sz="1500" dirty="0"/>
          </a:p>
        </p:txBody>
      </p:sp>
      <p:sp>
        <p:nvSpPr>
          <p:cNvPr id="7" name="Text 3"/>
          <p:cNvSpPr txBox="1"/>
          <p:nvPr/>
        </p:nvSpPr>
        <p:spPr>
          <a:xfrm>
            <a:off x="640080" y="304495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ejecuta la app</a:t>
            </a:r>
            <a:endParaRPr lang="en-US" sz="1300" dirty="0"/>
          </a:p>
        </p:txBody>
      </p:sp>
      <p:sp>
        <p:nvSpPr>
          <p:cNvPr id="8" name="servicio S3"/>
          <p:cNvSpPr/>
          <p:nvPr/>
        </p:nvSpPr>
        <p:spPr>
          <a:xfrm>
            <a:off x="2788920" y="141732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9" name="icono S3" descr="C:\Users\Epine\OneDrive\Documentos\XrjEvolution\PasaTimes\Xperiments\Amezzi-Reu-X\docs\fuentes\iconos\s3.png">    </p:cNvPr>
          <p:cNvPicPr>
            <a:picLocks noChangeAspect="1"/>
          </p:cNvPicPr>
          <p:nvPr/>
        </p:nvPicPr>
        <p:blipFill>
          <a:blip r:embed="rId2"/>
          <a:stretch>
            <a:fillRect/>
          </a:stretch>
        </p:blipFill>
        <p:spPr>
          <a:xfrm>
            <a:off x="3337560" y="1645920"/>
            <a:ext cx="914400" cy="914400"/>
          </a:xfrm>
          <a:prstGeom prst="rect">
            <a:avLst/>
          </a:prstGeom>
        </p:spPr>
      </p:pic>
      <p:sp>
        <p:nvSpPr>
          <p:cNvPr id="10" name="Text 5"/>
          <p:cNvSpPr txBox="1"/>
          <p:nvPr/>
        </p:nvSpPr>
        <p:spPr>
          <a:xfrm>
            <a:off x="2880360" y="265176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S3</a:t>
            </a:r>
            <a:endParaRPr lang="en-US" sz="1500" dirty="0"/>
          </a:p>
        </p:txBody>
      </p:sp>
      <p:sp>
        <p:nvSpPr>
          <p:cNvPr id="11" name="Text 6"/>
          <p:cNvSpPr txBox="1"/>
          <p:nvPr/>
        </p:nvSpPr>
        <p:spPr>
          <a:xfrm>
            <a:off x="2880360" y="304495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guarda archivos</a:t>
            </a:r>
            <a:endParaRPr lang="en-US" sz="1300" dirty="0"/>
          </a:p>
        </p:txBody>
      </p:sp>
      <p:sp>
        <p:nvSpPr>
          <p:cNvPr id="12" name="servicio Transcribe"/>
          <p:cNvSpPr/>
          <p:nvPr/>
        </p:nvSpPr>
        <p:spPr>
          <a:xfrm>
            <a:off x="5029200" y="141732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13" name="icono Transcribe" descr="C:\Users\Epine\OneDrive\Documentos\XrjEvolution\PasaTimes\Xperiments\Amezzi-Reu-X\docs\fuentes\iconos\transcribe.png">    </p:cNvPr>
          <p:cNvPicPr>
            <a:picLocks noChangeAspect="1"/>
          </p:cNvPicPr>
          <p:nvPr/>
        </p:nvPicPr>
        <p:blipFill>
          <a:blip r:embed="rId3"/>
          <a:stretch>
            <a:fillRect/>
          </a:stretch>
        </p:blipFill>
        <p:spPr>
          <a:xfrm>
            <a:off x="5577840" y="1645920"/>
            <a:ext cx="914400" cy="914400"/>
          </a:xfrm>
          <a:prstGeom prst="rect">
            <a:avLst/>
          </a:prstGeom>
        </p:spPr>
      </p:pic>
      <p:sp>
        <p:nvSpPr>
          <p:cNvPr id="14" name="Text 8"/>
          <p:cNvSpPr txBox="1"/>
          <p:nvPr/>
        </p:nvSpPr>
        <p:spPr>
          <a:xfrm>
            <a:off x="5120640" y="265176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Transcribe</a:t>
            </a:r>
            <a:endParaRPr lang="en-US" sz="1500" dirty="0"/>
          </a:p>
        </p:txBody>
      </p:sp>
      <p:sp>
        <p:nvSpPr>
          <p:cNvPr id="15" name="Text 9"/>
          <p:cNvSpPr txBox="1"/>
          <p:nvPr/>
        </p:nvSpPr>
        <p:spPr>
          <a:xfrm>
            <a:off x="5120640" y="304495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voz a texto</a:t>
            </a:r>
            <a:endParaRPr lang="en-US" sz="1300" dirty="0"/>
          </a:p>
        </p:txBody>
      </p:sp>
      <p:sp>
        <p:nvSpPr>
          <p:cNvPr id="16" name="servicio Bedrock"/>
          <p:cNvSpPr/>
          <p:nvPr/>
        </p:nvSpPr>
        <p:spPr>
          <a:xfrm>
            <a:off x="7269480" y="141732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17" name="icono Bedrock" descr="C:\Users\Epine\OneDrive\Documentos\XrjEvolution\PasaTimes\Xperiments\Amezzi-Reu-X\docs\fuentes\iconos\bedrock.png">    </p:cNvPr>
          <p:cNvPicPr>
            <a:picLocks noChangeAspect="1"/>
          </p:cNvPicPr>
          <p:nvPr/>
        </p:nvPicPr>
        <p:blipFill>
          <a:blip r:embed="rId4"/>
          <a:stretch>
            <a:fillRect/>
          </a:stretch>
        </p:blipFill>
        <p:spPr>
          <a:xfrm>
            <a:off x="7818120" y="1645920"/>
            <a:ext cx="914400" cy="914400"/>
          </a:xfrm>
          <a:prstGeom prst="rect">
            <a:avLst/>
          </a:prstGeom>
        </p:spPr>
      </p:pic>
      <p:sp>
        <p:nvSpPr>
          <p:cNvPr id="18" name="Text 11"/>
          <p:cNvSpPr txBox="1"/>
          <p:nvPr/>
        </p:nvSpPr>
        <p:spPr>
          <a:xfrm>
            <a:off x="7360920" y="265176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Bedrock</a:t>
            </a:r>
            <a:endParaRPr lang="en-US" sz="1500" dirty="0"/>
          </a:p>
        </p:txBody>
      </p:sp>
      <p:sp>
        <p:nvSpPr>
          <p:cNvPr id="19" name="Text 12"/>
          <p:cNvSpPr txBox="1"/>
          <p:nvPr/>
        </p:nvSpPr>
        <p:spPr>
          <a:xfrm>
            <a:off x="7360920" y="304495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IA (Claude)</a:t>
            </a:r>
            <a:endParaRPr lang="en-US" sz="1300" dirty="0"/>
          </a:p>
        </p:txBody>
      </p:sp>
      <p:sp>
        <p:nvSpPr>
          <p:cNvPr id="20" name="servicio Parameter Store"/>
          <p:cNvSpPr/>
          <p:nvPr/>
        </p:nvSpPr>
        <p:spPr>
          <a:xfrm>
            <a:off x="9509760" y="141732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21" name="icono Parameter Store" descr="C:\Users\Epine\OneDrive\Documentos\XrjEvolution\PasaTimes\Xperiments\Amezzi-Reu-X\docs\fuentes\iconos\parameter-store.png">    </p:cNvPr>
          <p:cNvPicPr>
            <a:picLocks noChangeAspect="1"/>
          </p:cNvPicPr>
          <p:nvPr/>
        </p:nvPicPr>
        <p:blipFill>
          <a:blip r:embed="rId5"/>
          <a:stretch>
            <a:fillRect/>
          </a:stretch>
        </p:blipFill>
        <p:spPr>
          <a:xfrm>
            <a:off x="10058400" y="1645920"/>
            <a:ext cx="914400" cy="914400"/>
          </a:xfrm>
          <a:prstGeom prst="rect">
            <a:avLst/>
          </a:prstGeom>
        </p:spPr>
      </p:pic>
      <p:sp>
        <p:nvSpPr>
          <p:cNvPr id="22" name="Text 14"/>
          <p:cNvSpPr txBox="1"/>
          <p:nvPr/>
        </p:nvSpPr>
        <p:spPr>
          <a:xfrm>
            <a:off x="9601200" y="265176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Parameter Store</a:t>
            </a:r>
            <a:endParaRPr lang="en-US" sz="1500" dirty="0"/>
          </a:p>
        </p:txBody>
      </p:sp>
      <p:sp>
        <p:nvSpPr>
          <p:cNvPr id="23" name="Text 15"/>
          <p:cNvSpPr txBox="1"/>
          <p:nvPr/>
        </p:nvSpPr>
        <p:spPr>
          <a:xfrm>
            <a:off x="9601200" y="304495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credenciales</a:t>
            </a:r>
            <a:endParaRPr lang="en-US" sz="1300" dirty="0"/>
          </a:p>
        </p:txBody>
      </p:sp>
      <p:sp>
        <p:nvSpPr>
          <p:cNvPr id="24" name="servicio IAM"/>
          <p:cNvSpPr/>
          <p:nvPr/>
        </p:nvSpPr>
        <p:spPr>
          <a:xfrm>
            <a:off x="548640" y="379476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25" name="icono IAM" descr="C:\Users\Epine\OneDrive\Documentos\XrjEvolution\PasaTimes\Xperiments\Amezzi-Reu-X\docs\fuentes\iconos\iam.png">    </p:cNvPr>
          <p:cNvPicPr>
            <a:picLocks noChangeAspect="1"/>
          </p:cNvPicPr>
          <p:nvPr/>
        </p:nvPicPr>
        <p:blipFill>
          <a:blip r:embed="rId6"/>
          <a:stretch>
            <a:fillRect/>
          </a:stretch>
        </p:blipFill>
        <p:spPr>
          <a:xfrm>
            <a:off x="1097280" y="4023360"/>
            <a:ext cx="914400" cy="914400"/>
          </a:xfrm>
          <a:prstGeom prst="rect">
            <a:avLst/>
          </a:prstGeom>
        </p:spPr>
      </p:pic>
      <p:sp>
        <p:nvSpPr>
          <p:cNvPr id="26" name="Text 17"/>
          <p:cNvSpPr txBox="1"/>
          <p:nvPr/>
        </p:nvSpPr>
        <p:spPr>
          <a:xfrm>
            <a:off x="640080" y="502920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IAM</a:t>
            </a:r>
            <a:endParaRPr lang="en-US" sz="1500" dirty="0"/>
          </a:p>
        </p:txBody>
      </p:sp>
      <p:sp>
        <p:nvSpPr>
          <p:cNvPr id="27" name="Text 18"/>
          <p:cNvSpPr txBox="1"/>
          <p:nvPr/>
        </p:nvSpPr>
        <p:spPr>
          <a:xfrm>
            <a:off x="640080" y="542239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permisos</a:t>
            </a:r>
            <a:endParaRPr lang="en-US" sz="1300" dirty="0"/>
          </a:p>
        </p:txBody>
      </p:sp>
      <p:sp>
        <p:nvSpPr>
          <p:cNvPr id="28" name="servicio Systems Manager"/>
          <p:cNvSpPr/>
          <p:nvPr/>
        </p:nvSpPr>
        <p:spPr>
          <a:xfrm>
            <a:off x="2788920" y="379476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29" name="icono Systems Manager" descr="C:\Users\Epine\OneDrive\Documentos\XrjEvolution\PasaTimes\Xperiments\Amezzi-Reu-X\docs\fuentes\iconos\systems-manager.png">    </p:cNvPr>
          <p:cNvPicPr>
            <a:picLocks noChangeAspect="1"/>
          </p:cNvPicPr>
          <p:nvPr/>
        </p:nvPicPr>
        <p:blipFill>
          <a:blip r:embed="rId7"/>
          <a:stretch>
            <a:fillRect/>
          </a:stretch>
        </p:blipFill>
        <p:spPr>
          <a:xfrm>
            <a:off x="3337560" y="4023360"/>
            <a:ext cx="914400" cy="914400"/>
          </a:xfrm>
          <a:prstGeom prst="rect">
            <a:avLst/>
          </a:prstGeom>
        </p:spPr>
      </p:pic>
      <p:sp>
        <p:nvSpPr>
          <p:cNvPr id="30" name="Text 20"/>
          <p:cNvSpPr txBox="1"/>
          <p:nvPr/>
        </p:nvSpPr>
        <p:spPr>
          <a:xfrm>
            <a:off x="2880360" y="502920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Systems Manager</a:t>
            </a:r>
            <a:endParaRPr lang="en-US" sz="1500" dirty="0"/>
          </a:p>
        </p:txBody>
      </p:sp>
      <p:sp>
        <p:nvSpPr>
          <p:cNvPr id="31" name="Text 21"/>
          <p:cNvSpPr txBox="1"/>
          <p:nvPr/>
        </p:nvSpPr>
        <p:spPr>
          <a:xfrm>
            <a:off x="2880360" y="542239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administración</a:t>
            </a:r>
            <a:endParaRPr lang="en-US" sz="1300" dirty="0"/>
          </a:p>
        </p:txBody>
      </p:sp>
      <p:sp>
        <p:nvSpPr>
          <p:cNvPr id="32" name="servicio CloudFormation"/>
          <p:cNvSpPr/>
          <p:nvPr/>
        </p:nvSpPr>
        <p:spPr>
          <a:xfrm>
            <a:off x="5029200" y="379476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33" name="icono CloudFormation" descr="C:\Users\Epine\OneDrive\Documentos\XrjEvolution\PasaTimes\Xperiments\Amezzi-Reu-X\docs\fuentes\iconos\cloudformation.png">    </p:cNvPr>
          <p:cNvPicPr>
            <a:picLocks noChangeAspect="1"/>
          </p:cNvPicPr>
          <p:nvPr/>
        </p:nvPicPr>
        <p:blipFill>
          <a:blip r:embed="rId8"/>
          <a:stretch>
            <a:fillRect/>
          </a:stretch>
        </p:blipFill>
        <p:spPr>
          <a:xfrm>
            <a:off x="5577840" y="4023360"/>
            <a:ext cx="914400" cy="914400"/>
          </a:xfrm>
          <a:prstGeom prst="rect">
            <a:avLst/>
          </a:prstGeom>
        </p:spPr>
      </p:pic>
      <p:sp>
        <p:nvSpPr>
          <p:cNvPr id="34" name="Text 23"/>
          <p:cNvSpPr txBox="1"/>
          <p:nvPr/>
        </p:nvSpPr>
        <p:spPr>
          <a:xfrm>
            <a:off x="5120640" y="502920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CloudFormation</a:t>
            </a:r>
            <a:endParaRPr lang="en-US" sz="1500" dirty="0"/>
          </a:p>
        </p:txBody>
      </p:sp>
      <p:sp>
        <p:nvSpPr>
          <p:cNvPr id="35" name="Text 24"/>
          <p:cNvSpPr txBox="1"/>
          <p:nvPr/>
        </p:nvSpPr>
        <p:spPr>
          <a:xfrm>
            <a:off x="5120640" y="542239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infraestructura</a:t>
            </a:r>
            <a:endParaRPr lang="en-US" sz="1300" dirty="0"/>
          </a:p>
        </p:txBody>
      </p:sp>
      <p:sp>
        <p:nvSpPr>
          <p:cNvPr id="36" name="servicio VPC"/>
          <p:cNvSpPr/>
          <p:nvPr/>
        </p:nvSpPr>
        <p:spPr>
          <a:xfrm>
            <a:off x="7269480" y="379476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37" name="icono VPC" descr="C:\Users\Epine\OneDrive\Documentos\XrjEvolution\PasaTimes\Xperiments\Amezzi-Reu-X\docs\fuentes\iconos\vpc.png">    </p:cNvPr>
          <p:cNvPicPr>
            <a:picLocks noChangeAspect="1"/>
          </p:cNvPicPr>
          <p:nvPr/>
        </p:nvPicPr>
        <p:blipFill>
          <a:blip r:embed="rId9"/>
          <a:stretch>
            <a:fillRect/>
          </a:stretch>
        </p:blipFill>
        <p:spPr>
          <a:xfrm>
            <a:off x="7818120" y="4023360"/>
            <a:ext cx="914400" cy="914400"/>
          </a:xfrm>
          <a:prstGeom prst="rect">
            <a:avLst/>
          </a:prstGeom>
        </p:spPr>
      </p:pic>
      <p:sp>
        <p:nvSpPr>
          <p:cNvPr id="38" name="Text 26"/>
          <p:cNvSpPr txBox="1"/>
          <p:nvPr/>
        </p:nvSpPr>
        <p:spPr>
          <a:xfrm>
            <a:off x="7360920" y="502920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VPC</a:t>
            </a:r>
            <a:endParaRPr lang="en-US" sz="1500" dirty="0"/>
          </a:p>
        </p:txBody>
      </p:sp>
      <p:sp>
        <p:nvSpPr>
          <p:cNvPr id="39" name="Text 27"/>
          <p:cNvSpPr txBox="1"/>
          <p:nvPr/>
        </p:nvSpPr>
        <p:spPr>
          <a:xfrm>
            <a:off x="7360920" y="542239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red privada</a:t>
            </a:r>
            <a:endParaRPr lang="en-US" sz="1300" dirty="0"/>
          </a:p>
        </p:txBody>
      </p:sp>
      <p:sp>
        <p:nvSpPr>
          <p:cNvPr id="40" name="servicio Caddy + Let's Encrypt"/>
          <p:cNvSpPr/>
          <p:nvPr/>
        </p:nvSpPr>
        <p:spPr>
          <a:xfrm>
            <a:off x="9509760" y="3794760"/>
            <a:ext cx="2011680" cy="210312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pic>
        <p:nvPicPr>
          <p:cNvPr id="41" name="icono Caddy + Let's Encrypt" descr="C:\Users\Epine\OneDrive\Documentos\XrjEvolution\PasaTimes\Xperiments\Amezzi-Reu-X\docs\fuentes\iconos\caddy.png">    </p:cNvPr>
          <p:cNvPicPr>
            <a:picLocks noChangeAspect="1"/>
          </p:cNvPicPr>
          <p:nvPr/>
        </p:nvPicPr>
        <p:blipFill>
          <a:blip r:embed="rId10"/>
          <a:stretch>
            <a:fillRect/>
          </a:stretch>
        </p:blipFill>
        <p:spPr>
          <a:xfrm>
            <a:off x="9784080" y="4238244"/>
            <a:ext cx="1463040" cy="484632"/>
          </a:xfrm>
          <a:prstGeom prst="rect">
            <a:avLst/>
          </a:prstGeom>
        </p:spPr>
      </p:pic>
      <p:sp>
        <p:nvSpPr>
          <p:cNvPr id="42" name="Text 29"/>
          <p:cNvSpPr txBox="1"/>
          <p:nvPr/>
        </p:nvSpPr>
        <p:spPr>
          <a:xfrm>
            <a:off x="9601200" y="5029200"/>
            <a:ext cx="1828800" cy="411480"/>
          </a:xfrm>
          <a:prstGeom prst="rect">
            <a:avLst/>
          </a:prstGeom>
          <a:noFill/>
          <a:ln/>
        </p:spPr>
        <p:txBody>
          <a:bodyPr wrap="square" lIns="0" tIns="0" rIns="0" bIns="0" rtlCol="0" anchor="ctr"/>
          <a:lstStyle/>
          <a:p>
            <a:pPr algn="ctr" indent="0" marL="0">
              <a:buNone/>
            </a:pPr>
            <a:r>
              <a:rPr lang="en-US" sz="1500" b="1" dirty="0">
                <a:solidFill>
                  <a:schemeClr val="tx2"/>
                </a:solidFill>
              </a:rPr>
              <a:t>Caddy + Let's Encrypt</a:t>
            </a:r>
            <a:endParaRPr lang="en-US" sz="1500" dirty="0"/>
          </a:p>
        </p:txBody>
      </p:sp>
      <p:sp>
        <p:nvSpPr>
          <p:cNvPr id="43" name="Text 30"/>
          <p:cNvSpPr txBox="1"/>
          <p:nvPr/>
        </p:nvSpPr>
        <p:spPr>
          <a:xfrm>
            <a:off x="9601200" y="5422392"/>
            <a:ext cx="1828800" cy="320040"/>
          </a:xfrm>
          <a:prstGeom prst="rect">
            <a:avLst/>
          </a:prstGeom>
          <a:noFill/>
          <a:ln/>
        </p:spPr>
        <p:txBody>
          <a:bodyPr wrap="square" lIns="0" tIns="0" rIns="0" bIns="0" rtlCol="0" anchor="ctr"/>
          <a:lstStyle/>
          <a:p>
            <a:pPr algn="ctr" indent="0" marL="0">
              <a:buNone/>
            </a:pPr>
            <a:r>
              <a:rPr lang="en-US" sz="1300" dirty="0">
                <a:solidFill>
                  <a:schemeClr val="tx1"/>
                </a:solidFill>
              </a:rPr>
              <a:t>HTTPS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Amazon EC2: el servidor de la aplicación</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ec2.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Ejecuta la aplicación web Next.js y el servidor HTTPS. Es el único componente que “orquesta” a los demás servicios.</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Usuarios" descr="C:\Users\Epine\OneDrive\Documentos\XrjEvolution\PasaTimes\Xperiments\Amezzi-Reu-X\docs\fuentes\iconos\usuarios.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Usuarios</a:t>
            </a:r>
            <a:endParaRPr lang="en-US" sz="1300" dirty="0"/>
          </a:p>
        </p:txBody>
      </p:sp>
      <p:pic>
        <p:nvPicPr>
          <p:cNvPr id="10" name="conexión S3" descr="C:\Users\Epine\OneDrive\Documentos\XrjEvolution\PasaTimes\Xperiments\Amezzi-Reu-X\docs\fuentes\iconos\s3.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S3</a:t>
            </a:r>
            <a:endParaRPr lang="en-US" sz="1300" dirty="0"/>
          </a:p>
        </p:txBody>
      </p:sp>
      <p:pic>
        <p:nvPicPr>
          <p:cNvPr id="12" name="conexión Transcribe" descr="C:\Users\Epine\OneDrive\Documentos\XrjEvolution\PasaTimes\Xperiments\Amezzi-Reu-X\docs\fuentes\iconos\transcribe.png">    </p:cNvPr>
          <p:cNvPicPr>
            <a:picLocks noChangeAspect="1"/>
          </p:cNvPicPr>
          <p:nvPr/>
        </p:nvPicPr>
        <p:blipFill>
          <a:blip r:embed="rId4"/>
          <a:stretch>
            <a:fillRect/>
          </a:stretch>
        </p:blipFill>
        <p:spPr>
          <a:xfrm>
            <a:off x="6080760" y="5545836"/>
            <a:ext cx="502920" cy="502920"/>
          </a:xfrm>
          <a:prstGeom prst="rect">
            <a:avLst/>
          </a:prstGeom>
        </p:spPr>
      </p:pic>
      <p:sp>
        <p:nvSpPr>
          <p:cNvPr id="13" name="Text 6"/>
          <p:cNvSpPr txBox="1"/>
          <p:nvPr/>
        </p:nvSpPr>
        <p:spPr>
          <a:xfrm>
            <a:off x="667512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Transcribe</a:t>
            </a:r>
            <a:endParaRPr lang="en-US" sz="1300" dirty="0"/>
          </a:p>
        </p:txBody>
      </p:sp>
      <p:pic>
        <p:nvPicPr>
          <p:cNvPr id="14" name="conexión Bedrock" descr="C:\Users\Epine\OneDrive\Documentos\XrjEvolution\PasaTimes\Xperiments\Amezzi-Reu-X\docs\fuentes\iconos\bedrock.png">    </p:cNvPr>
          <p:cNvPicPr>
            <a:picLocks noChangeAspect="1"/>
          </p:cNvPicPr>
          <p:nvPr/>
        </p:nvPicPr>
        <p:blipFill>
          <a:blip r:embed="rId5"/>
          <a:stretch>
            <a:fillRect/>
          </a:stretch>
        </p:blipFill>
        <p:spPr>
          <a:xfrm>
            <a:off x="7955280" y="5545836"/>
            <a:ext cx="502920" cy="502920"/>
          </a:xfrm>
          <a:prstGeom prst="rect">
            <a:avLst/>
          </a:prstGeom>
        </p:spPr>
      </p:pic>
      <p:sp>
        <p:nvSpPr>
          <p:cNvPr id="15" name="Text 7"/>
          <p:cNvSpPr txBox="1"/>
          <p:nvPr/>
        </p:nvSpPr>
        <p:spPr>
          <a:xfrm>
            <a:off x="854964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Bedrock</a:t>
            </a:r>
            <a:endParaRPr lang="en-US" sz="1300" dirty="0"/>
          </a:p>
        </p:txBody>
      </p:sp>
      <p:pic>
        <p:nvPicPr>
          <p:cNvPr id="16" name="conexión Parameter Store" descr="C:\Users\Epine\OneDrive\Documentos\XrjEvolution\PasaTimes\Xperiments\Amezzi-Reu-X\docs\fuentes\iconos\parameter-store.png">    </p:cNvPr>
          <p:cNvPicPr>
            <a:picLocks noChangeAspect="1"/>
          </p:cNvPicPr>
          <p:nvPr/>
        </p:nvPicPr>
        <p:blipFill>
          <a:blip r:embed="rId6"/>
          <a:stretch>
            <a:fillRect/>
          </a:stretch>
        </p:blipFill>
        <p:spPr>
          <a:xfrm>
            <a:off x="9829800" y="5545836"/>
            <a:ext cx="502920" cy="502920"/>
          </a:xfrm>
          <a:prstGeom prst="rect">
            <a:avLst/>
          </a:prstGeom>
        </p:spPr>
      </p:pic>
      <p:sp>
        <p:nvSpPr>
          <p:cNvPr id="17" name="Text 8"/>
          <p:cNvSpPr txBox="1"/>
          <p:nvPr/>
        </p:nvSpPr>
        <p:spPr>
          <a:xfrm>
            <a:off x="1042416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Parameter Store</a:t>
            </a:r>
            <a:endParaRPr lang="en-US" sz="1300" dirty="0"/>
          </a:p>
        </p:txBody>
      </p:sp>
      <p:sp>
        <p:nvSpPr>
          <p:cNvPr id="18" name="Text 9"/>
          <p:cNvSpPr txBox="1"/>
          <p:nvPr/>
        </p:nvSpPr>
        <p:spPr>
          <a:xfrm>
            <a:off x="548640" y="3154680"/>
            <a:ext cx="53949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Instancia t4g.small (ARM Graviton, 2 vCPU, 2 GB + 2 GB de swap)</a:t>
            </a:r>
            <a:endParaRPr lang="en-US" sz="1600" dirty="0"/>
          </a:p>
          <a:p>
            <a:pPr marL="342900" indent="-342900">
              <a:spcAft>
                <a:spcPts val="800"/>
              </a:spcAft>
              <a:buSzPct val="100000"/>
              <a:buChar char="•"/>
            </a:pPr>
            <a:r>
              <a:rPr lang="en-US" sz="1600" dirty="0">
                <a:solidFill>
                  <a:schemeClr val="tx1"/>
                </a:solidFill>
              </a:rPr>
              <a:t>Amazon Linux 2023 · Node.js 24 · disco gp3 de 20 GB cifrado</a:t>
            </a:r>
            <a:endParaRPr lang="en-US" sz="1600" dirty="0"/>
          </a:p>
          <a:p>
            <a:pPr marL="342900" indent="-342900">
              <a:spcAft>
                <a:spcPts val="800"/>
              </a:spcAft>
              <a:buSzPct val="100000"/>
              <a:buChar char="•"/>
            </a:pPr>
            <a:r>
              <a:rPr lang="en-US" sz="1600" dirty="0">
                <a:solidFill>
                  <a:schemeClr val="tx1"/>
                </a:solidFill>
              </a:rPr>
              <a:t>IP elástica fija: 50.18.10.41</a:t>
            </a:r>
            <a:endParaRPr lang="en-US" sz="1600" dirty="0"/>
          </a:p>
          <a:p>
            <a:pPr marL="342900" indent="-342900">
              <a:spcAft>
                <a:spcPts val="800"/>
              </a:spcAft>
              <a:buSzPct val="100000"/>
              <a:buChar char="•"/>
            </a:pPr>
            <a:r>
              <a:rPr lang="en-US" sz="1600" dirty="0">
                <a:solidFill>
                  <a:schemeClr val="tx1"/>
                </a:solidFill>
              </a:rPr>
              <a:t>IMDSv2 obligatorio y sin acceso SSH</a:t>
            </a:r>
            <a:endParaRPr lang="en-US" sz="1600" dirty="0"/>
          </a:p>
        </p:txBody>
      </p:sp>
      <p:sp>
        <p:nvSpPr>
          <p:cNvPr id="19" name="panel detalle"/>
          <p:cNvSpPr/>
          <p:nvPr/>
        </p:nvSpPr>
        <p:spPr>
          <a:xfrm>
            <a:off x="6263640" y="3063240"/>
            <a:ext cx="5376672" cy="2103120"/>
          </a:xfrm>
          <a:prstGeom prst="roundRect">
            <a:avLst>
              <a:gd name="adj" fmla="val 5217"/>
            </a:avLst>
          </a:prstGeom>
          <a:solidFill>
            <a:schemeClr val="bg2"/>
          </a:solidFill>
          <a:ln w="12700">
            <a:solidFill>
              <a:schemeClr val="bg2"/>
            </a:solidFill>
            <a:prstDash val="solid"/>
          </a:ln>
        </p:spPr>
      </p:sp>
      <p:sp>
        <p:nvSpPr>
          <p:cNvPr id="20" name="Text 11"/>
          <p:cNvSpPr txBox="1"/>
          <p:nvPr/>
        </p:nvSpPr>
        <p:spPr>
          <a:xfrm>
            <a:off x="6492240" y="3172968"/>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En Reu-X</a:t>
            </a:r>
            <a:endParaRPr lang="en-US" sz="1600" dirty="0"/>
          </a:p>
        </p:txBody>
      </p:sp>
      <p:sp>
        <p:nvSpPr>
          <p:cNvPr id="21" name="Text 12"/>
          <p:cNvSpPr txBox="1"/>
          <p:nvPr/>
        </p:nvSpPr>
        <p:spPr>
          <a:xfrm>
            <a:off x="6492240" y="3584448"/>
            <a:ext cx="4937760" cy="1508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Corre dos servicios systemd: reux (Next.js) y caddy (HTTPS)</a:t>
            </a:r>
            <a:endParaRPr lang="en-US" sz="1400" dirty="0"/>
          </a:p>
          <a:p>
            <a:pPr marL="342900" indent="-342900">
              <a:spcAft>
                <a:spcPts val="800"/>
              </a:spcAft>
              <a:buSzPct val="100000"/>
              <a:buChar char="•"/>
            </a:pPr>
            <a:r>
              <a:rPr lang="en-US" sz="1400" dirty="0">
                <a:solidFill>
                  <a:schemeClr val="tx1"/>
                </a:solidFill>
              </a:rPr>
              <a:t>Se instala solo al crearse (UserData)</a:t>
            </a:r>
            <a:endParaRPr lang="en-US" sz="1400" dirty="0"/>
          </a:p>
          <a:p>
            <a:pPr marL="342900" indent="-342900">
              <a:spcAft>
                <a:spcPts val="800"/>
              </a:spcAft>
              <a:buSzPct val="100000"/>
              <a:buChar char="•"/>
            </a:pPr>
            <a:r>
              <a:rPr lang="en-US" sz="1400" dirty="0">
                <a:solidFill>
                  <a:schemeClr val="tx1"/>
                </a:solidFill>
              </a:rPr>
              <a:t>Usa un rol IAM: sus credenciales se renuevan solas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Caddy y Let's Encrypt: HTTPS automático</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caddy.png">    </p:cNvPr>
          <p:cNvPicPr>
            <a:picLocks noChangeAspect="1"/>
          </p:cNvPicPr>
          <p:nvPr/>
        </p:nvPicPr>
        <p:blipFill>
          <a:blip r:embed="rId1"/>
          <a:stretch>
            <a:fillRect/>
          </a:stretch>
        </p:blipFill>
        <p:spPr>
          <a:xfrm>
            <a:off x="685800" y="1862376"/>
            <a:ext cx="1188720" cy="390049"/>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Recibe todo el tráfico de internet por HTTPS y lo reenvía a la aplicación en el puerto 3000.</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Usuarios" descr="C:\Users\Epine\OneDrive\Documentos\XrjEvolution\PasaTimes\Xperiments\Amezzi-Reu-X\docs\fuentes\iconos\usuarios.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Usuarios</a:t>
            </a:r>
            <a:endParaRPr lang="en-US" sz="1300" dirty="0"/>
          </a:p>
        </p:txBody>
      </p:sp>
      <p:pic>
        <p:nvPicPr>
          <p:cNvPr id="10" name="conexión Let's Encrypt" descr="C:\Users\Epine\OneDrive\Documentos\XrjEvolution\PasaTimes\Xperiments\Amezzi-Reu-X\docs\fuentes\iconos\lets-encrypt.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Let's Encrypt</a:t>
            </a:r>
            <a:endParaRPr lang="en-US" sz="1300" dirty="0"/>
          </a:p>
        </p:txBody>
      </p:sp>
      <p:pic>
        <p:nvPicPr>
          <p:cNvPr id="12" name="conexión App Next.js" descr="C:\Users\Epine\OneDrive\Documentos\XrjEvolution\PasaTimes\Xperiments\Amezzi-Reu-X\docs\fuentes\iconos\nextjs.png">    </p:cNvPr>
          <p:cNvPicPr>
            <a:picLocks noChangeAspect="1"/>
          </p:cNvPicPr>
          <p:nvPr/>
        </p:nvPicPr>
        <p:blipFill>
          <a:blip r:embed="rId4"/>
          <a:stretch>
            <a:fillRect/>
          </a:stretch>
        </p:blipFill>
        <p:spPr>
          <a:xfrm>
            <a:off x="6080760" y="5545836"/>
            <a:ext cx="502920" cy="502920"/>
          </a:xfrm>
          <a:prstGeom prst="rect">
            <a:avLst/>
          </a:prstGeom>
        </p:spPr>
      </p:pic>
      <p:sp>
        <p:nvSpPr>
          <p:cNvPr id="13" name="Text 6"/>
          <p:cNvSpPr txBox="1"/>
          <p:nvPr/>
        </p:nvSpPr>
        <p:spPr>
          <a:xfrm>
            <a:off x="667512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App Next.js</a:t>
            </a:r>
            <a:endParaRPr lang="en-US" sz="1300" dirty="0"/>
          </a:p>
        </p:txBody>
      </p:sp>
      <p:pic>
        <p:nvPicPr>
          <p:cNvPr id="14" name="conexión DNS amezzi.tech" descr="C:\Users\Epine\OneDrive\Documentos\XrjEvolution\PasaTimes\Xperiments\Amezzi-Reu-X\docs\fuentes\iconos\dns.png">    </p:cNvPr>
          <p:cNvPicPr>
            <a:picLocks noChangeAspect="1"/>
          </p:cNvPicPr>
          <p:nvPr/>
        </p:nvPicPr>
        <p:blipFill>
          <a:blip r:embed="rId5"/>
          <a:stretch>
            <a:fillRect/>
          </a:stretch>
        </p:blipFill>
        <p:spPr>
          <a:xfrm>
            <a:off x="7955280" y="5545836"/>
            <a:ext cx="502920" cy="502920"/>
          </a:xfrm>
          <a:prstGeom prst="rect">
            <a:avLst/>
          </a:prstGeom>
        </p:spPr>
      </p:pic>
      <p:sp>
        <p:nvSpPr>
          <p:cNvPr id="15" name="Text 7"/>
          <p:cNvSpPr txBox="1"/>
          <p:nvPr/>
        </p:nvSpPr>
        <p:spPr>
          <a:xfrm>
            <a:off x="854964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DNS amezzi.tech</a:t>
            </a:r>
            <a:endParaRPr lang="en-US" sz="1300" dirty="0"/>
          </a:p>
        </p:txBody>
      </p:sp>
      <p:sp>
        <p:nvSpPr>
          <p:cNvPr id="16" name="Text 8"/>
          <p:cNvSpPr txBox="1"/>
          <p:nvPr/>
        </p:nvSpPr>
        <p:spPr>
          <a:xfrm>
            <a:off x="548640" y="3154680"/>
            <a:ext cx="53949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Obtiene y renueva el certificado de Let's Encrypt sin intervención</a:t>
            </a:r>
            <a:endParaRPr lang="en-US" sz="1600" dirty="0"/>
          </a:p>
          <a:p>
            <a:pPr marL="342900" indent="-342900">
              <a:spcAft>
                <a:spcPts val="800"/>
              </a:spcAft>
              <a:buSzPct val="100000"/>
              <a:buChar char="•"/>
            </a:pPr>
            <a:r>
              <a:rPr lang="en-US" sz="1600" dirty="0">
                <a:solidFill>
                  <a:schemeClr val="tx1"/>
                </a:solidFill>
              </a:rPr>
              <a:t>Redirige HTTP → HTTPS</a:t>
            </a:r>
            <a:endParaRPr lang="en-US" sz="1600" dirty="0"/>
          </a:p>
          <a:p>
            <a:pPr marL="342900" indent="-342900">
              <a:spcAft>
                <a:spcPts val="800"/>
              </a:spcAft>
              <a:buSzPct val="100000"/>
              <a:buChar char="•"/>
            </a:pPr>
            <a:r>
              <a:rPr lang="en-US" sz="1600" dirty="0">
                <a:solidFill>
                  <a:schemeClr val="tx1"/>
                </a:solidFill>
              </a:rPr>
              <a:t>Agrega encabezados de seguridad: HSTS, nosniff, Referrer-Policy</a:t>
            </a:r>
            <a:endParaRPr lang="en-US" sz="1600" dirty="0"/>
          </a:p>
        </p:txBody>
      </p:sp>
      <p:sp>
        <p:nvSpPr>
          <p:cNvPr id="17" name="panel detalle"/>
          <p:cNvSpPr/>
          <p:nvPr/>
        </p:nvSpPr>
        <p:spPr>
          <a:xfrm>
            <a:off x="6263640" y="3063240"/>
            <a:ext cx="5376672" cy="2103120"/>
          </a:xfrm>
          <a:prstGeom prst="roundRect">
            <a:avLst>
              <a:gd name="adj" fmla="val 5217"/>
            </a:avLst>
          </a:prstGeom>
          <a:solidFill>
            <a:schemeClr val="bg2"/>
          </a:solidFill>
          <a:ln w="12700">
            <a:solidFill>
              <a:schemeClr val="bg2"/>
            </a:solidFill>
            <a:prstDash val="solid"/>
          </a:ln>
        </p:spPr>
      </p:sp>
      <p:sp>
        <p:nvSpPr>
          <p:cNvPr id="18" name="Text 10"/>
          <p:cNvSpPr txBox="1"/>
          <p:nvPr/>
        </p:nvSpPr>
        <p:spPr>
          <a:xfrm>
            <a:off x="6492240" y="3172968"/>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En Reu-X</a:t>
            </a:r>
            <a:endParaRPr lang="en-US" sz="1600" dirty="0"/>
          </a:p>
        </p:txBody>
      </p:sp>
      <p:sp>
        <p:nvSpPr>
          <p:cNvPr id="19" name="Text 11"/>
          <p:cNvSpPr txBox="1"/>
          <p:nvPr/>
        </p:nvSpPr>
        <p:spPr>
          <a:xfrm>
            <a:off x="6492240" y="3584448"/>
            <a:ext cx="4937760" cy="1508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Configuración en infra/servidor/Caddyfile</a:t>
            </a:r>
            <a:endParaRPr lang="en-US" sz="1400" dirty="0"/>
          </a:p>
          <a:p>
            <a:pPr marL="342900" indent="-342900">
              <a:spcAft>
                <a:spcPts val="800"/>
              </a:spcAft>
              <a:buSzPct val="100000"/>
              <a:buChar char="•"/>
            </a:pPr>
            <a:r>
              <a:rPr lang="en-US" sz="1400" dirty="0">
                <a:solidFill>
                  <a:schemeClr val="tx1"/>
                </a:solidFill>
              </a:rPr>
              <a:t>El dominio se lee de /etc/reux/config</a:t>
            </a:r>
            <a:endParaRPr lang="en-US" sz="1400" dirty="0"/>
          </a:p>
          <a:p>
            <a:pPr marL="342900" indent="-342900">
              <a:spcAft>
                <a:spcPts val="800"/>
              </a:spcAft>
              <a:buSzPct val="100000"/>
              <a:buChar char="•"/>
            </a:pPr>
            <a:r>
              <a:rPr lang="en-US" sz="1400" dirty="0">
                <a:solidFill>
                  <a:schemeClr val="tx1"/>
                </a:solidFill>
              </a:rPr>
              <a:t>Certificado vigente hasta enero de 2027, renovación automática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Amazon S3: almacenamiento de archivos</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s3.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Guarda las grabaciones, las transcripciones y el archivo de usuarios en un bucket privado y cifrado.</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Navegador" descr="C:\Users\Epine\OneDrive\Documentos\XrjEvolution\PasaTimes\Xperiments\Amezzi-Reu-X\docs\fuentes\iconos\usuarios.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Navegador</a:t>
            </a:r>
            <a:endParaRPr lang="en-US" sz="1300" dirty="0"/>
          </a:p>
        </p:txBody>
      </p:sp>
      <p:pic>
        <p:nvPicPr>
          <p:cNvPr id="10" name="conexión App (EC2)" descr="C:\Users\Epine\OneDrive\Documentos\XrjEvolution\PasaTimes\Xperiments\Amezzi-Reu-X\docs\fuentes\iconos\ec2.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App (EC2)</a:t>
            </a:r>
            <a:endParaRPr lang="en-US" sz="1300" dirty="0"/>
          </a:p>
        </p:txBody>
      </p:sp>
      <p:pic>
        <p:nvPicPr>
          <p:cNvPr id="12" name="conexión Transcribe" descr="C:\Users\Epine\OneDrive\Documentos\XrjEvolution\PasaTimes\Xperiments\Amezzi-Reu-X\docs\fuentes\iconos\transcribe.png">    </p:cNvPr>
          <p:cNvPicPr>
            <a:picLocks noChangeAspect="1"/>
          </p:cNvPicPr>
          <p:nvPr/>
        </p:nvPicPr>
        <p:blipFill>
          <a:blip r:embed="rId4"/>
          <a:stretch>
            <a:fillRect/>
          </a:stretch>
        </p:blipFill>
        <p:spPr>
          <a:xfrm>
            <a:off x="6080760" y="5545836"/>
            <a:ext cx="502920" cy="502920"/>
          </a:xfrm>
          <a:prstGeom prst="rect">
            <a:avLst/>
          </a:prstGeom>
        </p:spPr>
      </p:pic>
      <p:sp>
        <p:nvSpPr>
          <p:cNvPr id="13" name="Text 6"/>
          <p:cNvSpPr txBox="1"/>
          <p:nvPr/>
        </p:nvSpPr>
        <p:spPr>
          <a:xfrm>
            <a:off x="667512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Transcribe</a:t>
            </a:r>
            <a:endParaRPr lang="en-US" sz="1300" dirty="0"/>
          </a:p>
        </p:txBody>
      </p:sp>
      <p:pic>
        <p:nvPicPr>
          <p:cNvPr id="14" name="conexión IAM" descr="C:\Users\Epine\OneDrive\Documentos\XrjEvolution\PasaTimes\Xperiments\Amezzi-Reu-X\docs\fuentes\iconos\iam.png">    </p:cNvPr>
          <p:cNvPicPr>
            <a:picLocks noChangeAspect="1"/>
          </p:cNvPicPr>
          <p:nvPr/>
        </p:nvPicPr>
        <p:blipFill>
          <a:blip r:embed="rId5"/>
          <a:stretch>
            <a:fillRect/>
          </a:stretch>
        </p:blipFill>
        <p:spPr>
          <a:xfrm>
            <a:off x="7955280" y="5545836"/>
            <a:ext cx="502920" cy="502920"/>
          </a:xfrm>
          <a:prstGeom prst="rect">
            <a:avLst/>
          </a:prstGeom>
        </p:spPr>
      </p:pic>
      <p:sp>
        <p:nvSpPr>
          <p:cNvPr id="15" name="Text 7"/>
          <p:cNvSpPr txBox="1"/>
          <p:nvPr/>
        </p:nvSpPr>
        <p:spPr>
          <a:xfrm>
            <a:off x="854964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IAM</a:t>
            </a:r>
            <a:endParaRPr lang="en-US" sz="1300" dirty="0"/>
          </a:p>
        </p:txBody>
      </p:sp>
      <p:sp>
        <p:nvSpPr>
          <p:cNvPr id="16" name="Text 8"/>
          <p:cNvSpPr txBox="1"/>
          <p:nvPr/>
        </p:nvSpPr>
        <p:spPr>
          <a:xfrm>
            <a:off x="548640" y="3154680"/>
            <a:ext cx="53949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Bucket reu-x-937509584902-us-west-1</a:t>
            </a:r>
            <a:endParaRPr lang="en-US" sz="1600" dirty="0"/>
          </a:p>
          <a:p>
            <a:pPr marL="342900" indent="-342900">
              <a:spcAft>
                <a:spcPts val="800"/>
              </a:spcAft>
              <a:buSzPct val="100000"/>
              <a:buChar char="•"/>
            </a:pPr>
            <a:r>
              <a:rPr lang="en-US" sz="1600" dirty="0">
                <a:solidFill>
                  <a:schemeClr val="tx1"/>
                </a:solidFill>
              </a:rPr>
              <a:t>entradas/ → grabaciones (se borran a los 7 días)</a:t>
            </a:r>
            <a:endParaRPr lang="en-US" sz="1600" dirty="0"/>
          </a:p>
          <a:p>
            <a:pPr marL="342900" indent="-342900">
              <a:spcAft>
                <a:spcPts val="800"/>
              </a:spcAft>
              <a:buSzPct val="100000"/>
              <a:buChar char="•"/>
            </a:pPr>
            <a:r>
              <a:rPr lang="en-US" sz="1600" dirty="0">
                <a:solidFill>
                  <a:schemeClr val="tx1"/>
                </a:solidFill>
              </a:rPr>
              <a:t>transcripciones/ → JSON de Transcribe (7 días)</a:t>
            </a:r>
            <a:endParaRPr lang="en-US" sz="1600" dirty="0"/>
          </a:p>
          <a:p>
            <a:pPr marL="342900" indent="-342900">
              <a:spcAft>
                <a:spcPts val="800"/>
              </a:spcAft>
              <a:buSzPct val="100000"/>
              <a:buChar char="•"/>
            </a:pPr>
            <a:r>
              <a:rPr lang="en-US" sz="1600" dirty="0">
                <a:solidFill>
                  <a:schemeClr val="tx1"/>
                </a:solidFill>
              </a:rPr>
              <a:t>config/usuarios.json → usuarios y perfiles (se conserva)</a:t>
            </a:r>
            <a:endParaRPr lang="en-US" sz="1600" dirty="0"/>
          </a:p>
        </p:txBody>
      </p:sp>
      <p:sp>
        <p:nvSpPr>
          <p:cNvPr id="17" name="panel detalle"/>
          <p:cNvSpPr/>
          <p:nvPr/>
        </p:nvSpPr>
        <p:spPr>
          <a:xfrm>
            <a:off x="6263640" y="3063240"/>
            <a:ext cx="5376672" cy="2103120"/>
          </a:xfrm>
          <a:prstGeom prst="roundRect">
            <a:avLst>
              <a:gd name="adj" fmla="val 5217"/>
            </a:avLst>
          </a:prstGeom>
          <a:solidFill>
            <a:schemeClr val="bg2"/>
          </a:solidFill>
          <a:ln w="12700">
            <a:solidFill>
              <a:schemeClr val="bg2"/>
            </a:solidFill>
            <a:prstDash val="solid"/>
          </a:ln>
        </p:spPr>
      </p:sp>
      <p:sp>
        <p:nvSpPr>
          <p:cNvPr id="18" name="Text 10"/>
          <p:cNvSpPr txBox="1"/>
          <p:nvPr/>
        </p:nvSpPr>
        <p:spPr>
          <a:xfrm>
            <a:off x="6492240" y="3172968"/>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En Reu-X</a:t>
            </a:r>
            <a:endParaRPr lang="en-US" sz="1600" dirty="0"/>
          </a:p>
        </p:txBody>
      </p:sp>
      <p:sp>
        <p:nvSpPr>
          <p:cNvPr id="19" name="Text 11"/>
          <p:cNvSpPr txBox="1"/>
          <p:nvPr/>
        </p:nvSpPr>
        <p:spPr>
          <a:xfrm>
            <a:off x="6492240" y="3584448"/>
            <a:ext cx="4937760" cy="1508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Cifrado AES-256 y acceso público bloqueado</a:t>
            </a:r>
            <a:endParaRPr lang="en-US" sz="1400" dirty="0"/>
          </a:p>
          <a:p>
            <a:pPr marL="342900" indent="-342900">
              <a:spcAft>
                <a:spcPts val="800"/>
              </a:spcAft>
              <a:buSzPct val="100000"/>
              <a:buChar char="•"/>
            </a:pPr>
            <a:r>
              <a:rPr lang="en-US" sz="1400" dirty="0">
                <a:solidFill>
                  <a:schemeClr val="tx1"/>
                </a:solidFill>
              </a:rPr>
              <a:t>CORS: solo localhost:3000 y reux.amezzi.tech pueden subir</a:t>
            </a:r>
            <a:endParaRPr lang="en-US" sz="1400" dirty="0"/>
          </a:p>
          <a:p>
            <a:pPr marL="342900" indent="-342900">
              <a:spcAft>
                <a:spcPts val="800"/>
              </a:spcAft>
              <a:buSzPct val="100000"/>
              <a:buChar char="•"/>
            </a:pPr>
            <a:r>
              <a:rPr lang="en-US" sz="1400" dirty="0">
                <a:solidFill>
                  <a:schemeClr val="tx1"/>
                </a:solidFill>
              </a:rPr>
              <a:t>Subida con URL firmada válida 1 hora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Amazon Transcribe: voz a texto</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transcribe.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Convierte el audio o video en texto e identifica quién habla en cada momento.</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App (EC2)" descr="C:\Users\Epine\OneDrive\Documentos\XrjEvolution\PasaTimes\Xperiments\Amezzi-Reu-X\docs\fuentes\iconos\ec2.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App (EC2)</a:t>
            </a:r>
            <a:endParaRPr lang="en-US" sz="1300" dirty="0"/>
          </a:p>
        </p:txBody>
      </p:sp>
      <p:pic>
        <p:nvPicPr>
          <p:cNvPr id="10" name="conexión S3" descr="C:\Users\Epine\OneDrive\Documentos\XrjEvolution\PasaTimes\Xperiments\Amezzi-Reu-X\docs\fuentes\iconos\s3.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S3</a:t>
            </a:r>
            <a:endParaRPr lang="en-US" sz="1300" dirty="0"/>
          </a:p>
        </p:txBody>
      </p:sp>
      <p:pic>
        <p:nvPicPr>
          <p:cNvPr id="12" name="conexión IAM" descr="C:\Users\Epine\OneDrive\Documentos\XrjEvolution\PasaTimes\Xperiments\Amezzi-Reu-X\docs\fuentes\iconos\iam.png">    </p:cNvPr>
          <p:cNvPicPr>
            <a:picLocks noChangeAspect="1"/>
          </p:cNvPicPr>
          <p:nvPr/>
        </p:nvPicPr>
        <p:blipFill>
          <a:blip r:embed="rId4"/>
          <a:stretch>
            <a:fillRect/>
          </a:stretch>
        </p:blipFill>
        <p:spPr>
          <a:xfrm>
            <a:off x="6080760" y="5545836"/>
            <a:ext cx="502920" cy="502920"/>
          </a:xfrm>
          <a:prstGeom prst="rect">
            <a:avLst/>
          </a:prstGeom>
        </p:spPr>
      </p:pic>
      <p:sp>
        <p:nvSpPr>
          <p:cNvPr id="13" name="Text 6"/>
          <p:cNvSpPr txBox="1"/>
          <p:nvPr/>
        </p:nvSpPr>
        <p:spPr>
          <a:xfrm>
            <a:off x="667512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IAM</a:t>
            </a:r>
            <a:endParaRPr lang="en-US" sz="1300" dirty="0"/>
          </a:p>
        </p:txBody>
      </p:sp>
      <p:sp>
        <p:nvSpPr>
          <p:cNvPr id="14" name="Text 7"/>
          <p:cNvSpPr txBox="1"/>
          <p:nvPr/>
        </p:nvSpPr>
        <p:spPr>
          <a:xfrm>
            <a:off x="548640" y="3154680"/>
            <a:ext cx="53949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Detecta el idioma: español (EE. UU. y España) e inglés</a:t>
            </a:r>
            <a:endParaRPr lang="en-US" sz="1600" dirty="0"/>
          </a:p>
          <a:p>
            <a:pPr marL="342900" indent="-342900">
              <a:spcAft>
                <a:spcPts val="800"/>
              </a:spcAft>
              <a:buSzPct val="100000"/>
              <a:buChar char="•"/>
            </a:pPr>
            <a:r>
              <a:rPr lang="en-US" sz="1600" dirty="0">
                <a:solidFill>
                  <a:schemeClr val="tx1"/>
                </a:solidFill>
              </a:rPr>
              <a:t>Separa hasta 10 hablantes</a:t>
            </a:r>
            <a:endParaRPr lang="en-US" sz="1600" dirty="0"/>
          </a:p>
          <a:p>
            <a:pPr marL="342900" indent="-342900">
              <a:spcAft>
                <a:spcPts val="800"/>
              </a:spcAft>
              <a:buSzPct val="100000"/>
              <a:buChar char="•"/>
            </a:pPr>
            <a:r>
              <a:rPr lang="en-US" sz="1600" dirty="0">
                <a:solidFill>
                  <a:schemeClr val="tx1"/>
                </a:solidFill>
              </a:rPr>
              <a:t>Lee el archivo directamente desde S3</a:t>
            </a:r>
            <a:endParaRPr lang="en-US" sz="1600" dirty="0"/>
          </a:p>
          <a:p>
            <a:pPr marL="342900" indent="-342900">
              <a:spcAft>
                <a:spcPts val="800"/>
              </a:spcAft>
              <a:buSzPct val="100000"/>
              <a:buChar char="•"/>
            </a:pPr>
            <a:r>
              <a:rPr lang="en-US" sz="1600" dirty="0">
                <a:solidFill>
                  <a:schemeClr val="tx1"/>
                </a:solidFill>
              </a:rPr>
              <a:t>Escribe el resultado en JSON en S3</a:t>
            </a:r>
            <a:endParaRPr lang="en-US" sz="1600" dirty="0"/>
          </a:p>
        </p:txBody>
      </p:sp>
      <p:sp>
        <p:nvSpPr>
          <p:cNvPr id="15" name="panel detalle"/>
          <p:cNvSpPr/>
          <p:nvPr/>
        </p:nvSpPr>
        <p:spPr>
          <a:xfrm>
            <a:off x="6263640" y="3063240"/>
            <a:ext cx="5376672" cy="2103120"/>
          </a:xfrm>
          <a:prstGeom prst="roundRect">
            <a:avLst>
              <a:gd name="adj" fmla="val 5217"/>
            </a:avLst>
          </a:prstGeom>
          <a:solidFill>
            <a:schemeClr val="bg2"/>
          </a:solidFill>
          <a:ln w="12700">
            <a:solidFill>
              <a:schemeClr val="bg2"/>
            </a:solidFill>
            <a:prstDash val="solid"/>
          </a:ln>
        </p:spPr>
      </p:sp>
      <p:sp>
        <p:nvSpPr>
          <p:cNvPr id="16" name="Text 9"/>
          <p:cNvSpPr txBox="1"/>
          <p:nvPr/>
        </p:nvSpPr>
        <p:spPr>
          <a:xfrm>
            <a:off x="6492240" y="3172968"/>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En Reu-X</a:t>
            </a:r>
            <a:endParaRPr lang="en-US" sz="1600" dirty="0"/>
          </a:p>
        </p:txBody>
      </p:sp>
      <p:sp>
        <p:nvSpPr>
          <p:cNvPr id="17" name="Text 10"/>
          <p:cNvSpPr txBox="1"/>
          <p:nvPr/>
        </p:nvSpPr>
        <p:spPr>
          <a:xfrm>
            <a:off x="6492240" y="3584448"/>
            <a:ext cx="4937760" cy="1508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Trabajo asíncrono: la app lo inicia y consulta su estado cada 5 s</a:t>
            </a:r>
            <a:endParaRPr lang="en-US" sz="1400" dirty="0"/>
          </a:p>
          <a:p>
            <a:pPr marL="342900" indent="-342900">
              <a:spcAft>
                <a:spcPts val="800"/>
              </a:spcAft>
              <a:buSzPct val="100000"/>
              <a:buChar char="•"/>
            </a:pPr>
            <a:r>
              <a:rPr lang="en-US" sz="1400" dirty="0">
                <a:solidFill>
                  <a:schemeClr val="tx1"/>
                </a:solidFill>
              </a:rPr>
              <a:t>Tarda ≈ 25–50 % de la duración del audio</a:t>
            </a:r>
            <a:endParaRPr lang="en-US" sz="1400" dirty="0"/>
          </a:p>
          <a:p>
            <a:pPr marL="342900" indent="-342900">
              <a:spcAft>
                <a:spcPts val="800"/>
              </a:spcAft>
              <a:buSzPct val="100000"/>
              <a:buChar char="•"/>
            </a:pPr>
            <a:r>
              <a:rPr lang="en-US" sz="1400" dirty="0">
                <a:solidFill>
                  <a:schemeClr val="tx1"/>
                </a:solidFill>
              </a:rPr>
              <a:t>Costo ≈ US$0.024 por minuto de audio</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Amazon Bedrock y Claude: la redacción</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bedrock.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Da acceso al modelo Claude Sonnet 4.6, que redacta la minuta y diseña los visuales.</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App (EC2)" descr="C:\Users\Epine\OneDrive\Documentos\XrjEvolution\PasaTimes\Xperiments\Amezzi-Reu-X\docs\fuentes\iconos\ec2.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App (EC2)</a:t>
            </a:r>
            <a:endParaRPr lang="en-US" sz="1300" dirty="0"/>
          </a:p>
        </p:txBody>
      </p:sp>
      <p:pic>
        <p:nvPicPr>
          <p:cNvPr id="10" name="conexión IAM" descr="C:\Users\Epine\OneDrive\Documentos\XrjEvolution\PasaTimes\Xperiments\Amezzi-Reu-X\docs\fuentes\iconos\iam.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IAM</a:t>
            </a:r>
            <a:endParaRPr lang="en-US" sz="1300" dirty="0"/>
          </a:p>
        </p:txBody>
      </p:sp>
      <p:sp>
        <p:nvSpPr>
          <p:cNvPr id="12" name="Text 6"/>
          <p:cNvSpPr txBox="1"/>
          <p:nvPr/>
        </p:nvSpPr>
        <p:spPr>
          <a:xfrm>
            <a:off x="548640" y="3154680"/>
            <a:ext cx="53949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Perfil de inferencia us.anthropic.claude-sonnet-4-6</a:t>
            </a:r>
            <a:endParaRPr lang="en-US" sz="1600" dirty="0"/>
          </a:p>
          <a:p>
            <a:pPr marL="342900" indent="-342900">
              <a:spcAft>
                <a:spcPts val="800"/>
              </a:spcAft>
              <a:buSzPct val="100000"/>
              <a:buChar char="•"/>
            </a:pPr>
            <a:r>
              <a:rPr lang="en-US" sz="1600" dirty="0">
                <a:solidFill>
                  <a:schemeClr val="tx1"/>
                </a:solidFill>
              </a:rPr>
              <a:t>Salida estructurada: JSON validado con esquemas Zod</a:t>
            </a:r>
            <a:endParaRPr lang="en-US" sz="1600" dirty="0"/>
          </a:p>
          <a:p>
            <a:pPr marL="342900" indent="-342900">
              <a:spcAft>
                <a:spcPts val="800"/>
              </a:spcAft>
              <a:buSzPct val="100000"/>
              <a:buChar char="•"/>
            </a:pPr>
            <a:r>
              <a:rPr lang="en-US" sz="1600" dirty="0">
                <a:solidFill>
                  <a:schemeClr val="tx1"/>
                </a:solidFill>
              </a:rPr>
              <a:t>Instrucciones: no inventar datos, no convertir fechas relativas</a:t>
            </a:r>
            <a:endParaRPr lang="en-US" sz="1600" dirty="0"/>
          </a:p>
          <a:p>
            <a:pPr marL="342900" indent="-342900">
              <a:spcAft>
                <a:spcPts val="800"/>
              </a:spcAft>
              <a:buSzPct val="100000"/>
              <a:buChar char="•"/>
            </a:pPr>
            <a:r>
              <a:rPr lang="en-US" sz="1600" dirty="0">
                <a:solidFill>
                  <a:schemeClr val="tx1"/>
                </a:solidFill>
              </a:rPr>
              <a:t>Esfuerzo medio · hasta 16 000 tokens de salida</a:t>
            </a:r>
            <a:endParaRPr lang="en-US" sz="1600" dirty="0"/>
          </a:p>
        </p:txBody>
      </p:sp>
      <p:sp>
        <p:nvSpPr>
          <p:cNvPr id="13" name="panel detalle"/>
          <p:cNvSpPr/>
          <p:nvPr/>
        </p:nvSpPr>
        <p:spPr>
          <a:xfrm>
            <a:off x="6263640" y="3063240"/>
            <a:ext cx="5376672" cy="2103120"/>
          </a:xfrm>
          <a:prstGeom prst="roundRect">
            <a:avLst>
              <a:gd name="adj" fmla="val 5217"/>
            </a:avLst>
          </a:prstGeom>
          <a:solidFill>
            <a:schemeClr val="bg2"/>
          </a:solidFill>
          <a:ln w="12700">
            <a:solidFill>
              <a:schemeClr val="bg2"/>
            </a:solidFill>
            <a:prstDash val="solid"/>
          </a:ln>
        </p:spPr>
      </p:sp>
      <p:sp>
        <p:nvSpPr>
          <p:cNvPr id="14" name="Text 8"/>
          <p:cNvSpPr txBox="1"/>
          <p:nvPr/>
        </p:nvSpPr>
        <p:spPr>
          <a:xfrm>
            <a:off x="6492240" y="3172968"/>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En Reu-X</a:t>
            </a:r>
            <a:endParaRPr lang="en-US" sz="1600" dirty="0"/>
          </a:p>
        </p:txBody>
      </p:sp>
      <p:sp>
        <p:nvSpPr>
          <p:cNvPr id="15" name="Text 9"/>
          <p:cNvSpPr txBox="1"/>
          <p:nvPr/>
        </p:nvSpPr>
        <p:spPr>
          <a:xfrm>
            <a:off x="6492240" y="3584448"/>
            <a:ext cx="4937760" cy="1508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Una llamada para la minuta y una por cada visual</a:t>
            </a:r>
            <a:endParaRPr lang="en-US" sz="1400" dirty="0"/>
          </a:p>
          <a:p>
            <a:pPr marL="342900" indent="-342900">
              <a:spcAft>
                <a:spcPts val="800"/>
              </a:spcAft>
              <a:buSzPct val="100000"/>
              <a:buChar char="•"/>
            </a:pPr>
            <a:r>
              <a:rPr lang="en-US" sz="1400" dirty="0">
                <a:solidFill>
                  <a:schemeClr val="tx1"/>
                </a:solidFill>
              </a:rPr>
              <a:t>Errores traducidos a mensajes claros (credenciales, acceso al modelo)</a:t>
            </a:r>
            <a:endParaRPr lang="en-US" sz="1400" dirty="0"/>
          </a:p>
          <a:p>
            <a:pPr marL="342900" indent="-342900">
              <a:spcAft>
                <a:spcPts val="800"/>
              </a:spcAft>
              <a:buSzPct val="100000"/>
              <a:buChar char="•"/>
            </a:pPr>
            <a:r>
              <a:rPr lang="en-US" sz="1400" dirty="0">
                <a:solidFill>
                  <a:schemeClr val="tx1"/>
                </a:solidFill>
              </a:rPr>
              <a:t>Proveedor intercambiable: Bedrock, API de Anthropic o demo</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SSM Parameter Store: credenciales</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parameter-store.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Guarda, cifrados, el usuario y la contraseña del administrador principal y el secreto que firma las sesiones.</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Servidor" descr="C:\Users\Epine\OneDrive\Documentos\XrjEvolution\PasaTimes\Xperiments\Amezzi-Reu-X\docs\fuentes\iconos\ec2.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Servidor</a:t>
            </a:r>
            <a:endParaRPr lang="en-US" sz="1300" dirty="0"/>
          </a:p>
        </p:txBody>
      </p:sp>
      <p:pic>
        <p:nvPicPr>
          <p:cNvPr id="10" name="conexión IAM" descr="C:\Users\Epine\OneDrive\Documentos\XrjEvolution\PasaTimes\Xperiments\Amezzi-Reu-X\docs\fuentes\iconos\iam.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IAM</a:t>
            </a:r>
            <a:endParaRPr lang="en-US" sz="1300" dirty="0"/>
          </a:p>
        </p:txBody>
      </p:sp>
      <p:sp>
        <p:nvSpPr>
          <p:cNvPr id="12" name="Text 6"/>
          <p:cNvSpPr txBox="1"/>
          <p:nvPr/>
        </p:nvSpPr>
        <p:spPr>
          <a:xfrm>
            <a:off x="548640" y="3154680"/>
            <a:ext cx="53949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/reux/usuario → nombre del administrador principal</a:t>
            </a:r>
            <a:endParaRPr lang="en-US" sz="1600" dirty="0"/>
          </a:p>
          <a:p>
            <a:pPr marL="342900" indent="-342900">
              <a:spcAft>
                <a:spcPts val="800"/>
              </a:spcAft>
              <a:buSzPct val="100000"/>
              <a:buChar char="•"/>
            </a:pPr>
            <a:r>
              <a:rPr lang="en-US" sz="1600" dirty="0">
                <a:solidFill>
                  <a:schemeClr val="tx1"/>
                </a:solidFill>
              </a:rPr>
              <a:t>/reux/clave → contraseña (SecureString)</a:t>
            </a:r>
            <a:endParaRPr lang="en-US" sz="1600" dirty="0"/>
          </a:p>
          <a:p>
            <a:pPr marL="342900" indent="-342900">
              <a:spcAft>
                <a:spcPts val="800"/>
              </a:spcAft>
              <a:buSzPct val="100000"/>
              <a:buChar char="•"/>
            </a:pPr>
            <a:r>
              <a:rPr lang="en-US" sz="1600" dirty="0">
                <a:solidFill>
                  <a:schemeClr val="tx1"/>
                </a:solidFill>
              </a:rPr>
              <a:t>/reux/secreto → clave HMAC de las sesiones (SecureString)</a:t>
            </a:r>
            <a:endParaRPr lang="en-US" sz="1600" dirty="0"/>
          </a:p>
        </p:txBody>
      </p:sp>
      <p:sp>
        <p:nvSpPr>
          <p:cNvPr id="13" name="panel detalle"/>
          <p:cNvSpPr/>
          <p:nvPr/>
        </p:nvSpPr>
        <p:spPr>
          <a:xfrm>
            <a:off x="6263640" y="3063240"/>
            <a:ext cx="5376672" cy="2103120"/>
          </a:xfrm>
          <a:prstGeom prst="roundRect">
            <a:avLst>
              <a:gd name="adj" fmla="val 5217"/>
            </a:avLst>
          </a:prstGeom>
          <a:solidFill>
            <a:schemeClr val="bg2"/>
          </a:solidFill>
          <a:ln w="12700">
            <a:solidFill>
              <a:schemeClr val="bg2"/>
            </a:solidFill>
            <a:prstDash val="solid"/>
          </a:ln>
        </p:spPr>
      </p:sp>
      <p:sp>
        <p:nvSpPr>
          <p:cNvPr id="14" name="Text 8"/>
          <p:cNvSpPr txBox="1"/>
          <p:nvPr/>
        </p:nvSpPr>
        <p:spPr>
          <a:xfrm>
            <a:off x="6492240" y="3172968"/>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En Reu-X</a:t>
            </a:r>
            <a:endParaRPr lang="en-US" sz="1600" dirty="0"/>
          </a:p>
        </p:txBody>
      </p:sp>
      <p:sp>
        <p:nvSpPr>
          <p:cNvPr id="15" name="Text 9"/>
          <p:cNvSpPr txBox="1"/>
          <p:nvPr/>
        </p:nvSpPr>
        <p:spPr>
          <a:xfrm>
            <a:off x="6492240" y="3584448"/>
            <a:ext cx="4937760" cy="1508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El servidor los lee al arrancar (servicio reux-entorno)</a:t>
            </a:r>
            <a:endParaRPr lang="en-US" sz="1400" dirty="0"/>
          </a:p>
          <a:p>
            <a:pPr marL="342900" indent="-342900">
              <a:spcAft>
                <a:spcPts val="800"/>
              </a:spcAft>
              <a:buSzPct val="100000"/>
              <a:buChar char="•"/>
            </a:pPr>
            <a:r>
              <a:rPr lang="en-US" sz="1400" dirty="0">
                <a:solidFill>
                  <a:schemeClr val="tx1"/>
                </a:solidFill>
              </a:rPr>
              <a:t>Nunca están en el código ni en GitHub</a:t>
            </a:r>
            <a:endParaRPr lang="en-US" sz="1400" dirty="0"/>
          </a:p>
          <a:p>
            <a:pPr marL="342900" indent="-342900">
              <a:spcAft>
                <a:spcPts val="800"/>
              </a:spcAft>
              <a:buSzPct val="100000"/>
              <a:buChar char="•"/>
            </a:pPr>
            <a:r>
              <a:rPr lang="en-US" sz="1400" dirty="0">
                <a:solidFill>
                  <a:schemeClr val="tx1"/>
                </a:solidFill>
              </a:rPr>
              <a:t>Se cambian con aws ssm put-parameter y se republica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AWS IAM: permisos mínimos</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iam.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Define qué puede hacer el servidor. El rol de la instancia solo tiene lo estrictamente necesario.</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EC2" descr="C:\Users\Epine\OneDrive\Documentos\XrjEvolution\PasaTimes\Xperiments\Amezzi-Reu-X\docs\fuentes\iconos\ec2.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EC2</a:t>
            </a:r>
            <a:endParaRPr lang="en-US" sz="1300" dirty="0"/>
          </a:p>
        </p:txBody>
      </p:sp>
      <p:pic>
        <p:nvPicPr>
          <p:cNvPr id="10" name="conexión S3" descr="C:\Users\Epine\OneDrive\Documentos\XrjEvolution\PasaTimes\Xperiments\Amezzi-Reu-X\docs\fuentes\iconos\s3.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S3</a:t>
            </a:r>
            <a:endParaRPr lang="en-US" sz="1300" dirty="0"/>
          </a:p>
        </p:txBody>
      </p:sp>
      <p:pic>
        <p:nvPicPr>
          <p:cNvPr id="12" name="conexión Transcribe" descr="C:\Users\Epine\OneDrive\Documentos\XrjEvolution\PasaTimes\Xperiments\Amezzi-Reu-X\docs\fuentes\iconos\transcribe.png">    </p:cNvPr>
          <p:cNvPicPr>
            <a:picLocks noChangeAspect="1"/>
          </p:cNvPicPr>
          <p:nvPr/>
        </p:nvPicPr>
        <p:blipFill>
          <a:blip r:embed="rId4"/>
          <a:stretch>
            <a:fillRect/>
          </a:stretch>
        </p:blipFill>
        <p:spPr>
          <a:xfrm>
            <a:off x="6080760" y="5545836"/>
            <a:ext cx="502920" cy="502920"/>
          </a:xfrm>
          <a:prstGeom prst="rect">
            <a:avLst/>
          </a:prstGeom>
        </p:spPr>
      </p:pic>
      <p:sp>
        <p:nvSpPr>
          <p:cNvPr id="13" name="Text 6"/>
          <p:cNvSpPr txBox="1"/>
          <p:nvPr/>
        </p:nvSpPr>
        <p:spPr>
          <a:xfrm>
            <a:off x="667512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Transcribe</a:t>
            </a:r>
            <a:endParaRPr lang="en-US" sz="1300" dirty="0"/>
          </a:p>
        </p:txBody>
      </p:sp>
      <p:pic>
        <p:nvPicPr>
          <p:cNvPr id="14" name="conexión Bedrock" descr="C:\Users\Epine\OneDrive\Documentos\XrjEvolution\PasaTimes\Xperiments\Amezzi-Reu-X\docs\fuentes\iconos\bedrock.png">    </p:cNvPr>
          <p:cNvPicPr>
            <a:picLocks noChangeAspect="1"/>
          </p:cNvPicPr>
          <p:nvPr/>
        </p:nvPicPr>
        <p:blipFill>
          <a:blip r:embed="rId5"/>
          <a:stretch>
            <a:fillRect/>
          </a:stretch>
        </p:blipFill>
        <p:spPr>
          <a:xfrm>
            <a:off x="7955280" y="5545836"/>
            <a:ext cx="502920" cy="502920"/>
          </a:xfrm>
          <a:prstGeom prst="rect">
            <a:avLst/>
          </a:prstGeom>
        </p:spPr>
      </p:pic>
      <p:sp>
        <p:nvSpPr>
          <p:cNvPr id="15" name="Text 7"/>
          <p:cNvSpPr txBox="1"/>
          <p:nvPr/>
        </p:nvSpPr>
        <p:spPr>
          <a:xfrm>
            <a:off x="854964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Bedrock</a:t>
            </a:r>
            <a:endParaRPr lang="en-US" sz="1300" dirty="0"/>
          </a:p>
        </p:txBody>
      </p:sp>
      <p:pic>
        <p:nvPicPr>
          <p:cNvPr id="16" name="conexión Parameter Store" descr="C:\Users\Epine\OneDrive\Documentos\XrjEvolution\PasaTimes\Xperiments\Amezzi-Reu-X\docs\fuentes\iconos\parameter-store.png">    </p:cNvPr>
          <p:cNvPicPr>
            <a:picLocks noChangeAspect="1"/>
          </p:cNvPicPr>
          <p:nvPr/>
        </p:nvPicPr>
        <p:blipFill>
          <a:blip r:embed="rId6"/>
          <a:stretch>
            <a:fillRect/>
          </a:stretch>
        </p:blipFill>
        <p:spPr>
          <a:xfrm>
            <a:off x="9829800" y="5545836"/>
            <a:ext cx="502920" cy="502920"/>
          </a:xfrm>
          <a:prstGeom prst="rect">
            <a:avLst/>
          </a:prstGeom>
        </p:spPr>
      </p:pic>
      <p:sp>
        <p:nvSpPr>
          <p:cNvPr id="17" name="Text 8"/>
          <p:cNvSpPr txBox="1"/>
          <p:nvPr/>
        </p:nvSpPr>
        <p:spPr>
          <a:xfrm>
            <a:off x="1042416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Parameter Store</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94415" cy="914400"/>
        </p:xfrm>
        <a:graphic>
          <a:graphicData uri="http://schemas.openxmlformats.org/drawingml/2006/table">
            <a:tbl>
              <a:tblPr/>
              <a:tblGrid>
                <a:gridCol w="2218883"/>
                <a:gridCol w="4992487"/>
                <a:gridCol w="3883045"/>
              </a:tblGrid>
              <a:tr h="0">
                <a:tc>
                  <a:txBody>
                    <a:bodyPr/>
                    <a:lstStyle/>
                    <a:p>
                      <a:pPr indent="0" marL="0">
                        <a:buNone/>
                      </a:pPr>
                      <a:r>
                        <a:rPr lang="en-US" sz="1400" b="1" dirty="0">
                          <a:solidFill>
                            <a:schemeClr val="bg1"/>
                          </a:solidFill>
                        </a:rPr>
                        <a:t>Servicio</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Acciones permitidas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Alcance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r>
              <a:tr h="0">
                <a:tc>
                  <a:txBody>
                    <a:bodyPr/>
                    <a:lstStyle/>
                    <a:p>
                      <a:pPr indent="0" marL="0">
                        <a:buNone/>
                      </a:pPr>
                      <a:r>
                        <a:rPr lang="en-US" sz="1400" dirty="0">
                          <a:solidFill>
                            <a:schemeClr val="tx1"/>
                          </a:solidFill>
                        </a:rPr>
                        <a:t>S3</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PutObject, GetObject</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solo en el bucket de Reu-X</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Transcribe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StartTranscriptionJob, GetTranscriptionJob</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trabajos de transcripción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Bedrock</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InvokeModel, InvokeModelWithResponseStream</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modelos de Claude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Parameter Store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GetParameter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solo /reux/*</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Systems Manager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AmazonSSMManagedInstanceCore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administración remota</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AWS Systems Manager: administración sin SSH</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systems-manager.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Permite ejecutar comandos en el servidor desde la línea de comandos de AWS, sin abrir el puerto SSH.</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Desarrollador" descr="C:\Users\Epine\OneDrive\Documentos\XrjEvolution\PasaTimes\Xperiments\Amezzi-Reu-X\docs\fuentes\iconos\desarrollador.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Desarrollador</a:t>
            </a:r>
            <a:endParaRPr lang="en-US" sz="1300" dirty="0"/>
          </a:p>
        </p:txBody>
      </p:sp>
      <p:pic>
        <p:nvPicPr>
          <p:cNvPr id="10" name="conexión Servidor" descr="C:\Users\Epine\OneDrive\Documentos\XrjEvolution\PasaTimes\Xperiments\Amezzi-Reu-X\docs\fuentes\iconos\ec2.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Servidor</a:t>
            </a:r>
            <a:endParaRPr lang="en-US" sz="1300" dirty="0"/>
          </a:p>
        </p:txBody>
      </p:sp>
      <p:pic>
        <p:nvPicPr>
          <p:cNvPr id="12" name="conexión GitHub" descr="C:\Users\Epine\OneDrive\Documentos\XrjEvolution\PasaTimes\Xperiments\Amezzi-Reu-X\docs\fuentes\iconos\github.png">    </p:cNvPr>
          <p:cNvPicPr>
            <a:picLocks noChangeAspect="1"/>
          </p:cNvPicPr>
          <p:nvPr/>
        </p:nvPicPr>
        <p:blipFill>
          <a:blip r:embed="rId4"/>
          <a:stretch>
            <a:fillRect/>
          </a:stretch>
        </p:blipFill>
        <p:spPr>
          <a:xfrm>
            <a:off x="6080760" y="5545836"/>
            <a:ext cx="502920" cy="502920"/>
          </a:xfrm>
          <a:prstGeom prst="rect">
            <a:avLst/>
          </a:prstGeom>
        </p:spPr>
      </p:pic>
      <p:sp>
        <p:nvSpPr>
          <p:cNvPr id="13" name="Text 6"/>
          <p:cNvSpPr txBox="1"/>
          <p:nvPr/>
        </p:nvSpPr>
        <p:spPr>
          <a:xfrm>
            <a:off x="667512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GitHub</a:t>
            </a:r>
            <a:endParaRPr lang="en-US" sz="1300" dirty="0"/>
          </a:p>
        </p:txBody>
      </p:sp>
      <p:sp>
        <p:nvSpPr>
          <p:cNvPr id="14" name="Text 7"/>
          <p:cNvSpPr txBox="1"/>
          <p:nvPr/>
        </p:nvSpPr>
        <p:spPr>
          <a:xfrm>
            <a:off x="548640" y="3154680"/>
            <a:ext cx="53949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Run Command ejecuta actualizar.sh para publicar versiones</a:t>
            </a:r>
            <a:endParaRPr lang="en-US" sz="1600" dirty="0"/>
          </a:p>
          <a:p>
            <a:pPr marL="342900" indent="-342900">
              <a:spcAft>
                <a:spcPts val="800"/>
              </a:spcAft>
              <a:buSzPct val="100000"/>
              <a:buChar char="•"/>
            </a:pPr>
            <a:r>
              <a:rPr lang="en-US" sz="1600" dirty="0">
                <a:solidFill>
                  <a:schemeClr val="tx1"/>
                </a:solidFill>
              </a:rPr>
              <a:t>Session Manager abre una terminal desde la consola</a:t>
            </a:r>
            <a:endParaRPr lang="en-US" sz="1600" dirty="0"/>
          </a:p>
          <a:p>
            <a:pPr marL="342900" indent="-342900">
              <a:spcAft>
                <a:spcPts val="800"/>
              </a:spcAft>
              <a:buSzPct val="100000"/>
              <a:buChar char="•"/>
            </a:pPr>
            <a:r>
              <a:rPr lang="en-US" sz="1600" dirty="0">
                <a:solidFill>
                  <a:schemeClr val="tx1"/>
                </a:solidFill>
              </a:rPr>
              <a:t>Diagnóstico: ver estado y registros de los servicios</a:t>
            </a:r>
            <a:endParaRPr lang="en-US" sz="1600" dirty="0"/>
          </a:p>
        </p:txBody>
      </p:sp>
      <p:sp>
        <p:nvSpPr>
          <p:cNvPr id="15" name="panel detalle"/>
          <p:cNvSpPr/>
          <p:nvPr/>
        </p:nvSpPr>
        <p:spPr>
          <a:xfrm>
            <a:off x="6263640" y="3063240"/>
            <a:ext cx="5376672" cy="2103120"/>
          </a:xfrm>
          <a:prstGeom prst="roundRect">
            <a:avLst>
              <a:gd name="adj" fmla="val 5217"/>
            </a:avLst>
          </a:prstGeom>
          <a:solidFill>
            <a:schemeClr val="bg2"/>
          </a:solidFill>
          <a:ln w="12700">
            <a:solidFill>
              <a:schemeClr val="bg2"/>
            </a:solidFill>
            <a:prstDash val="solid"/>
          </a:ln>
        </p:spPr>
      </p:sp>
      <p:sp>
        <p:nvSpPr>
          <p:cNvPr id="16" name="Text 9"/>
          <p:cNvSpPr txBox="1"/>
          <p:nvPr/>
        </p:nvSpPr>
        <p:spPr>
          <a:xfrm>
            <a:off x="6492240" y="3172968"/>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En Reu-X</a:t>
            </a:r>
            <a:endParaRPr lang="en-US" sz="1600" dirty="0"/>
          </a:p>
        </p:txBody>
      </p:sp>
      <p:sp>
        <p:nvSpPr>
          <p:cNvPr id="17" name="Text 10"/>
          <p:cNvSpPr txBox="1"/>
          <p:nvPr/>
        </p:nvSpPr>
        <p:spPr>
          <a:xfrm>
            <a:off x="6492240" y="3584448"/>
            <a:ext cx="4937760" cy="1508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infra/publicar.sh envía la orden y espera el resultado</a:t>
            </a:r>
            <a:endParaRPr lang="en-US" sz="1400" dirty="0"/>
          </a:p>
          <a:p>
            <a:pPr marL="342900" indent="-342900">
              <a:spcAft>
                <a:spcPts val="800"/>
              </a:spcAft>
              <a:buSzPct val="100000"/>
              <a:buChar char="•"/>
            </a:pPr>
            <a:r>
              <a:rPr lang="en-US" sz="1400" dirty="0">
                <a:solidFill>
                  <a:schemeClr val="tx1"/>
                </a:solidFill>
              </a:rPr>
              <a:t>Todo queda registrado en AWS</a:t>
            </a:r>
            <a:endParaRPr lang="en-US" sz="1400" dirty="0"/>
          </a:p>
          <a:p>
            <a:pPr marL="342900" indent="-342900">
              <a:spcAft>
                <a:spcPts val="800"/>
              </a:spcAft>
              <a:buSzPct val="100000"/>
              <a:buChar char="•"/>
            </a:pPr>
            <a:r>
              <a:rPr lang="en-US" sz="1400" dirty="0">
                <a:solidFill>
                  <a:schemeClr val="tx1"/>
                </a:solidFill>
              </a:rPr>
              <a:t>Superficie de ataque menor: el firewall solo abre 80 y 443</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AWS CloudFormation: infraestructura como código</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cloudformation.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Crea y actualiza todos los recursos desde plantillas versionadas en el repositorio.</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S3" descr="C:\Users\Epine\OneDrive\Documentos\XrjEvolution\PasaTimes\Xperiments\Amezzi-Reu-X\docs\fuentes\iconos\s3.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S3</a:t>
            </a:r>
            <a:endParaRPr lang="en-US" sz="1300" dirty="0"/>
          </a:p>
        </p:txBody>
      </p:sp>
      <p:pic>
        <p:nvPicPr>
          <p:cNvPr id="10" name="conexión IAM" descr="C:\Users\Epine\OneDrive\Documentos\XrjEvolution\PasaTimes\Xperiments\Amezzi-Reu-X\docs\fuentes\iconos\iam.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IAM</a:t>
            </a:r>
            <a:endParaRPr lang="en-US" sz="1300" dirty="0"/>
          </a:p>
        </p:txBody>
      </p:sp>
      <p:pic>
        <p:nvPicPr>
          <p:cNvPr id="12" name="conexión EC2" descr="C:\Users\Epine\OneDrive\Documentos\XrjEvolution\PasaTimes\Xperiments\Amezzi-Reu-X\docs\fuentes\iconos\ec2.png">    </p:cNvPr>
          <p:cNvPicPr>
            <a:picLocks noChangeAspect="1"/>
          </p:cNvPicPr>
          <p:nvPr/>
        </p:nvPicPr>
        <p:blipFill>
          <a:blip r:embed="rId4"/>
          <a:stretch>
            <a:fillRect/>
          </a:stretch>
        </p:blipFill>
        <p:spPr>
          <a:xfrm>
            <a:off x="6080760" y="5545836"/>
            <a:ext cx="502920" cy="502920"/>
          </a:xfrm>
          <a:prstGeom prst="rect">
            <a:avLst/>
          </a:prstGeom>
        </p:spPr>
      </p:pic>
      <p:sp>
        <p:nvSpPr>
          <p:cNvPr id="13" name="Text 6"/>
          <p:cNvSpPr txBox="1"/>
          <p:nvPr/>
        </p:nvSpPr>
        <p:spPr>
          <a:xfrm>
            <a:off x="667512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EC2</a:t>
            </a:r>
            <a:endParaRPr lang="en-US" sz="1300" dirty="0"/>
          </a:p>
        </p:txBody>
      </p:sp>
      <p:pic>
        <p:nvPicPr>
          <p:cNvPr id="14" name="conexión Red" descr="C:\Users\Epine\OneDrive\Documentos\XrjEvolution\PasaTimes\Xperiments\Amezzi-Reu-X\docs\fuentes\iconos\vpc.png">    </p:cNvPr>
          <p:cNvPicPr>
            <a:picLocks noChangeAspect="1"/>
          </p:cNvPicPr>
          <p:nvPr/>
        </p:nvPicPr>
        <p:blipFill>
          <a:blip r:embed="rId5"/>
          <a:stretch>
            <a:fillRect/>
          </a:stretch>
        </p:blipFill>
        <p:spPr>
          <a:xfrm>
            <a:off x="7955280" y="5545836"/>
            <a:ext cx="502920" cy="502920"/>
          </a:xfrm>
          <a:prstGeom prst="rect">
            <a:avLst/>
          </a:prstGeom>
        </p:spPr>
      </p:pic>
      <p:sp>
        <p:nvSpPr>
          <p:cNvPr id="15" name="Text 7"/>
          <p:cNvSpPr txBox="1"/>
          <p:nvPr/>
        </p:nvSpPr>
        <p:spPr>
          <a:xfrm>
            <a:off x="854964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Red</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94415" cy="914400"/>
        </p:xfrm>
        <a:graphic>
          <a:graphicData uri="http://schemas.openxmlformats.org/drawingml/2006/table">
            <a:tbl>
              <a:tblPr/>
              <a:tblGrid>
                <a:gridCol w="1775106"/>
                <a:gridCol w="2440771"/>
                <a:gridCol w="6878537"/>
              </a:tblGrid>
              <a:tr h="0">
                <a:tc>
                  <a:txBody>
                    <a:bodyPr/>
                    <a:lstStyle/>
                    <a:p>
                      <a:pPr indent="0" marL="0">
                        <a:buNone/>
                      </a:pPr>
                      <a:r>
                        <a:rPr lang="en-US" sz="1400" b="1" dirty="0">
                          <a:solidFill>
                            <a:schemeClr val="bg1"/>
                          </a:solidFill>
                        </a:rPr>
                        <a:t>Stack</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Plantilla</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Recursos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r>
              <a:tr h="0">
                <a:tc>
                  <a:txBody>
                    <a:bodyPr/>
                    <a:lstStyle/>
                    <a:p>
                      <a:pPr indent="0" marL="0">
                        <a:buNone/>
                      </a:pPr>
                      <a:r>
                        <a:rPr lang="en-US" sz="1400" dirty="0">
                          <a:solidFill>
                            <a:schemeClr val="tx1"/>
                          </a:solidFill>
                        </a:rPr>
                        <a:t>reu-x</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infra/template.yaml</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Bucket S3 (cifrado, CORS, ciclo de vida) y política IAM de la app</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reu-x-servidor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infra/servidor.yaml</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Grupo de seguridad, rol e instancia de perfil IAM, EC2 con instalación automática e IP elástica</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Red: VPC, grupo de seguridad, IP y DNS</a:t>
            </a:r>
            <a:endParaRPr lang="en-US" sz="3200" dirty="0"/>
          </a:p>
        </p:txBody>
      </p:sp>
      <p:sp>
        <p:nvSpPr>
          <p:cNvPr id="4" name="fondo icono servicio"/>
          <p:cNvSpPr/>
          <p:nvPr/>
        </p:nvSpPr>
        <p:spPr>
          <a:xfrm>
            <a:off x="548640" y="1325880"/>
            <a:ext cx="1463040" cy="1463040"/>
          </a:xfrm>
          <a:prstGeom prst="roundRect">
            <a:avLst>
              <a:gd name="adj" fmla="val 9375"/>
            </a:avLst>
          </a:prstGeom>
          <a:solidFill>
            <a:schemeClr val="bg2"/>
          </a:solidFill>
          <a:ln w="12700">
            <a:solidFill>
              <a:schemeClr val="bg2"/>
            </a:solidFill>
            <a:prstDash val="solid"/>
          </a:ln>
        </p:spPr>
      </p:sp>
      <p:pic>
        <p:nvPicPr>
          <p:cNvPr id="5" name="icono servicio" descr="C:\Users\Epine\OneDrive\Documentos\XrjEvolution\PasaTimes\Xperiments\Amezzi-Reu-X\docs\fuentes\iconos\vpc.png">    </p:cNvPr>
          <p:cNvPicPr>
            <a:picLocks noChangeAspect="1"/>
          </p:cNvPicPr>
          <p:nvPr/>
        </p:nvPicPr>
        <p:blipFill>
          <a:blip r:embed="rId1"/>
          <a:stretch>
            <a:fillRect/>
          </a:stretch>
        </p:blipFill>
        <p:spPr>
          <a:xfrm>
            <a:off x="777240" y="1554480"/>
            <a:ext cx="1005840" cy="1005840"/>
          </a:xfrm>
          <a:prstGeom prst="rect">
            <a:avLst/>
          </a:prstGeom>
        </p:spPr>
      </p:pic>
      <p:sp>
        <p:nvSpPr>
          <p:cNvPr id="6" name="Text 2"/>
          <p:cNvSpPr txBox="1"/>
          <p:nvPr/>
        </p:nvSpPr>
        <p:spPr>
          <a:xfrm>
            <a:off x="2286000" y="1325880"/>
            <a:ext cx="9326880" cy="1463040"/>
          </a:xfrm>
          <a:prstGeom prst="rect">
            <a:avLst/>
          </a:prstGeom>
          <a:noFill/>
          <a:ln/>
        </p:spPr>
        <p:txBody>
          <a:bodyPr wrap="square" lIns="0" tIns="0" rIns="0" bIns="0" rtlCol="0" anchor="ctr"/>
          <a:lstStyle/>
          <a:p>
            <a:pPr indent="0" marL="0">
              <a:buNone/>
            </a:pPr>
            <a:r>
              <a:rPr lang="en-US" sz="2000" i="1" dirty="0">
                <a:solidFill>
                  <a:schemeClr val="tx2"/>
                </a:solidFill>
              </a:rPr>
              <a:t>Conecta el servidor a internet de forma controlada y le da una dirección fija con nombre propio.</a:t>
            </a:r>
            <a:endParaRPr lang="en-US" sz="2000" dirty="0"/>
          </a:p>
        </p:txBody>
      </p:sp>
      <p:sp>
        <p:nvSpPr>
          <p:cNvPr id="7" name="Text 3"/>
          <p:cNvSpPr txBox="1"/>
          <p:nvPr/>
        </p:nvSpPr>
        <p:spPr>
          <a:xfrm>
            <a:off x="548640" y="5550408"/>
            <a:ext cx="1737360" cy="457200"/>
          </a:xfrm>
          <a:prstGeom prst="rect">
            <a:avLst/>
          </a:prstGeom>
          <a:noFill/>
          <a:ln/>
        </p:spPr>
        <p:txBody>
          <a:bodyPr wrap="square" lIns="0" tIns="0" rIns="0" bIns="0" rtlCol="0" anchor="ctr"/>
          <a:lstStyle/>
          <a:p>
            <a:pPr indent="0" marL="0">
              <a:buNone/>
            </a:pPr>
            <a:r>
              <a:rPr lang="en-US" sz="1500" b="1" dirty="0">
                <a:solidFill>
                  <a:schemeClr val="accent2"/>
                </a:solidFill>
              </a:rPr>
              <a:t>Se conecta con</a:t>
            </a:r>
            <a:endParaRPr lang="en-US" sz="1500" dirty="0"/>
          </a:p>
        </p:txBody>
      </p:sp>
      <p:pic>
        <p:nvPicPr>
          <p:cNvPr id="8" name="conexión EC2" descr="C:\Users\Epine\OneDrive\Documentos\XrjEvolution\PasaTimes\Xperiments\Amezzi-Reu-X\docs\fuentes\iconos\ec2.png">    </p:cNvPr>
          <p:cNvPicPr>
            <a:picLocks noChangeAspect="1"/>
          </p:cNvPicPr>
          <p:nvPr/>
        </p:nvPicPr>
        <p:blipFill>
          <a:blip r:embed="rId2"/>
          <a:stretch>
            <a:fillRect/>
          </a:stretch>
        </p:blipFill>
        <p:spPr>
          <a:xfrm>
            <a:off x="2331720" y="5545836"/>
            <a:ext cx="502920" cy="502920"/>
          </a:xfrm>
          <a:prstGeom prst="rect">
            <a:avLst/>
          </a:prstGeom>
        </p:spPr>
      </p:pic>
      <p:sp>
        <p:nvSpPr>
          <p:cNvPr id="9" name="Text 4"/>
          <p:cNvSpPr txBox="1"/>
          <p:nvPr/>
        </p:nvSpPr>
        <p:spPr>
          <a:xfrm>
            <a:off x="292608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EC2</a:t>
            </a:r>
            <a:endParaRPr lang="en-US" sz="1300" dirty="0"/>
          </a:p>
        </p:txBody>
      </p:sp>
      <p:pic>
        <p:nvPicPr>
          <p:cNvPr id="10" name="conexión Gateway" descr="C:\Users\Epine\OneDrive\Documentos\XrjEvolution\PasaTimes\Xperiments\Amezzi-Reu-X\docs\fuentes\iconos\internet-gateway.png">    </p:cNvPr>
          <p:cNvPicPr>
            <a:picLocks noChangeAspect="1"/>
          </p:cNvPicPr>
          <p:nvPr/>
        </p:nvPicPr>
        <p:blipFill>
          <a:blip r:embed="rId3"/>
          <a:stretch>
            <a:fillRect/>
          </a:stretch>
        </p:blipFill>
        <p:spPr>
          <a:xfrm>
            <a:off x="4206240" y="5545836"/>
            <a:ext cx="502920" cy="502920"/>
          </a:xfrm>
          <a:prstGeom prst="rect">
            <a:avLst/>
          </a:prstGeom>
        </p:spPr>
      </p:pic>
      <p:sp>
        <p:nvSpPr>
          <p:cNvPr id="11" name="Text 5"/>
          <p:cNvSpPr txBox="1"/>
          <p:nvPr/>
        </p:nvSpPr>
        <p:spPr>
          <a:xfrm>
            <a:off x="480060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Gateway</a:t>
            </a:r>
            <a:endParaRPr lang="en-US" sz="1300" dirty="0"/>
          </a:p>
        </p:txBody>
      </p:sp>
      <p:pic>
        <p:nvPicPr>
          <p:cNvPr id="12" name="conexión DNS" descr="C:\Users\Epine\OneDrive\Documentos\XrjEvolution\PasaTimes\Xperiments\Amezzi-Reu-X\docs\fuentes\iconos\dns.png">    </p:cNvPr>
          <p:cNvPicPr>
            <a:picLocks noChangeAspect="1"/>
          </p:cNvPicPr>
          <p:nvPr/>
        </p:nvPicPr>
        <p:blipFill>
          <a:blip r:embed="rId4"/>
          <a:stretch>
            <a:fillRect/>
          </a:stretch>
        </p:blipFill>
        <p:spPr>
          <a:xfrm>
            <a:off x="6080760" y="5545836"/>
            <a:ext cx="502920" cy="502920"/>
          </a:xfrm>
          <a:prstGeom prst="rect">
            <a:avLst/>
          </a:prstGeom>
        </p:spPr>
      </p:pic>
      <p:sp>
        <p:nvSpPr>
          <p:cNvPr id="13" name="Text 6"/>
          <p:cNvSpPr txBox="1"/>
          <p:nvPr/>
        </p:nvSpPr>
        <p:spPr>
          <a:xfrm>
            <a:off x="667512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DNS</a:t>
            </a:r>
            <a:endParaRPr lang="en-US" sz="1300" dirty="0"/>
          </a:p>
        </p:txBody>
      </p:sp>
      <p:pic>
        <p:nvPicPr>
          <p:cNvPr id="14" name="conexión Usuarios" descr="C:\Users\Epine\OneDrive\Documentos\XrjEvolution\PasaTimes\Xperiments\Amezzi-Reu-X\docs\fuentes\iconos\usuarios.png">    </p:cNvPr>
          <p:cNvPicPr>
            <a:picLocks noChangeAspect="1"/>
          </p:cNvPicPr>
          <p:nvPr/>
        </p:nvPicPr>
        <p:blipFill>
          <a:blip r:embed="rId5"/>
          <a:stretch>
            <a:fillRect/>
          </a:stretch>
        </p:blipFill>
        <p:spPr>
          <a:xfrm>
            <a:off x="7955280" y="5545836"/>
            <a:ext cx="502920" cy="502920"/>
          </a:xfrm>
          <a:prstGeom prst="rect">
            <a:avLst/>
          </a:prstGeom>
        </p:spPr>
      </p:pic>
      <p:sp>
        <p:nvSpPr>
          <p:cNvPr id="15" name="Text 7"/>
          <p:cNvSpPr txBox="1"/>
          <p:nvPr/>
        </p:nvSpPr>
        <p:spPr>
          <a:xfrm>
            <a:off x="8549640" y="5550408"/>
            <a:ext cx="1188720" cy="502920"/>
          </a:xfrm>
          <a:prstGeom prst="rect">
            <a:avLst/>
          </a:prstGeom>
          <a:noFill/>
          <a:ln/>
        </p:spPr>
        <p:txBody>
          <a:bodyPr wrap="square" lIns="0" tIns="0" rIns="0" bIns="0" rtlCol="0" anchor="ctr"/>
          <a:lstStyle/>
          <a:p>
            <a:pPr indent="0" marL="0">
              <a:buNone/>
            </a:pPr>
            <a:r>
              <a:rPr lang="en-US" sz="1300" dirty="0">
                <a:solidFill>
                  <a:schemeClr val="tx1"/>
                </a:solidFill>
              </a:rPr>
              <a:t>Usuarios</a:t>
            </a:r>
            <a:endParaRPr lang="en-US" sz="1300" dirty="0"/>
          </a:p>
        </p:txBody>
      </p:sp>
      <p:sp>
        <p:nvSpPr>
          <p:cNvPr id="16" name="Text 8"/>
          <p:cNvSpPr txBox="1"/>
          <p:nvPr/>
        </p:nvSpPr>
        <p:spPr>
          <a:xfrm>
            <a:off x="548640" y="3154680"/>
            <a:ext cx="53949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VPC predeterminada con subred pública e Internet Gateway</a:t>
            </a:r>
            <a:endParaRPr lang="en-US" sz="1600" dirty="0"/>
          </a:p>
          <a:p>
            <a:pPr marL="342900" indent="-342900">
              <a:spcAft>
                <a:spcPts val="800"/>
              </a:spcAft>
              <a:buSzPct val="100000"/>
              <a:buChar char="•"/>
            </a:pPr>
            <a:r>
              <a:rPr lang="en-US" sz="1600" dirty="0">
                <a:solidFill>
                  <a:schemeClr val="tx1"/>
                </a:solidFill>
              </a:rPr>
              <a:t>Grupo de seguridad: solo entran 80 y 443 (IPv4 e IPv6)</a:t>
            </a:r>
            <a:endParaRPr lang="en-US" sz="1600" dirty="0"/>
          </a:p>
          <a:p>
            <a:pPr marL="342900" indent="-342900">
              <a:spcAft>
                <a:spcPts val="800"/>
              </a:spcAft>
              <a:buSzPct val="100000"/>
              <a:buChar char="•"/>
            </a:pPr>
            <a:r>
              <a:rPr lang="en-US" sz="1600" dirty="0">
                <a:solidFill>
                  <a:schemeClr val="tx1"/>
                </a:solidFill>
              </a:rPr>
              <a:t>IP elástica 50.18.10.41</a:t>
            </a:r>
            <a:endParaRPr lang="en-US" sz="1600" dirty="0"/>
          </a:p>
        </p:txBody>
      </p:sp>
      <p:sp>
        <p:nvSpPr>
          <p:cNvPr id="17" name="panel detalle"/>
          <p:cNvSpPr/>
          <p:nvPr/>
        </p:nvSpPr>
        <p:spPr>
          <a:xfrm>
            <a:off x="6263640" y="3063240"/>
            <a:ext cx="5376672" cy="2103120"/>
          </a:xfrm>
          <a:prstGeom prst="roundRect">
            <a:avLst>
              <a:gd name="adj" fmla="val 5217"/>
            </a:avLst>
          </a:prstGeom>
          <a:solidFill>
            <a:schemeClr val="bg2"/>
          </a:solidFill>
          <a:ln w="12700">
            <a:solidFill>
              <a:schemeClr val="bg2"/>
            </a:solidFill>
            <a:prstDash val="solid"/>
          </a:ln>
        </p:spPr>
      </p:sp>
      <p:sp>
        <p:nvSpPr>
          <p:cNvPr id="18" name="Text 10"/>
          <p:cNvSpPr txBox="1"/>
          <p:nvPr/>
        </p:nvSpPr>
        <p:spPr>
          <a:xfrm>
            <a:off x="6492240" y="3172968"/>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En Reu-X</a:t>
            </a:r>
            <a:endParaRPr lang="en-US" sz="1600" dirty="0"/>
          </a:p>
        </p:txBody>
      </p:sp>
      <p:sp>
        <p:nvSpPr>
          <p:cNvPr id="19" name="Text 11"/>
          <p:cNvSpPr txBox="1"/>
          <p:nvPr/>
        </p:nvSpPr>
        <p:spPr>
          <a:xfrm>
            <a:off x="6492240" y="3584448"/>
            <a:ext cx="4937760" cy="1508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DNS en el registrador .tech: registro A reux → 50.18.10.41</a:t>
            </a:r>
            <a:endParaRPr lang="en-US" sz="1400" dirty="0"/>
          </a:p>
          <a:p>
            <a:pPr marL="342900" indent="-342900">
              <a:spcAft>
                <a:spcPts val="800"/>
              </a:spcAft>
              <a:buSzPct val="100000"/>
              <a:buChar char="•"/>
            </a:pPr>
            <a:r>
              <a:rPr lang="en-US" sz="1400" dirty="0">
                <a:solidFill>
                  <a:schemeClr val="tx1"/>
                </a:solidFill>
              </a:rPr>
              <a:t>Dirección pública: https://reux.amezzi.tech</a:t>
            </a:r>
            <a:endParaRPr lang="en-US" sz="1400" dirty="0"/>
          </a:p>
          <a:p>
            <a:pPr marL="342900" indent="-342900">
              <a:spcAft>
                <a:spcPts val="800"/>
              </a:spcAft>
              <a:buSzPct val="100000"/>
              <a:buChar char="•"/>
            </a:pPr>
            <a:r>
              <a:rPr lang="en-US" sz="1400" dirty="0">
                <a:solidFill>
                  <a:schemeClr val="tx1"/>
                </a:solidFill>
              </a:rPr>
              <a:t>Las llamadas a S3, Transcribe y Bedrock salen por HTTPS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Cómo se conectan</a:t>
            </a:r>
            <a:endParaRPr lang="en-US" sz="4400" dirty="0"/>
          </a:p>
        </p:txBody>
      </p:sp>
      <p:sp>
        <p:nvSpPr>
          <p:cNvPr id="4" name="Text 0"/>
          <p:cNvSpPr/>
          <p:nvPr>
            <p:ph idx="101" type="body" hasCustomPrompt="1"/>
          </p:nvPr>
        </p:nvSpPr>
        <p:spPr>
          <a:xfrm>
            <a:off x="548640" y="3794760"/>
            <a:ext cx="10515600" cy="822960"/>
          </a:xfrm>
          <a:prstGeom prst="rect">
            <a:avLst/>
          </a:prstGeom>
          <a:noFill/>
          <a:ln/>
        </p:spPr>
        <p:txBody>
          <a:bodyPr wrap="square" lIns="0" tIns="0" rIns="0" bIns="0" rtlCol="0" anchor="t"/>
          <a:lstStyle/>
          <a:p>
            <a:pPr indent="0" marL="0">
              <a:buNone/>
            </a:pPr>
            <a:r>
              <a:rPr lang="en-US" sz="2000" dirty="0">
                <a:solidFill>
                  <a:schemeClr val="bg2"/>
                </a:solidFill>
              </a:rPr>
              <a:t>El recorrido de una reunión, de la grabación a la minuta</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1F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El núcleo: de la grabación a la minuta</a:t>
            </a:r>
            <a:endParaRPr lang="en-US" sz="3200" dirty="0"/>
          </a:p>
        </p:txBody>
      </p:sp>
      <p:pic>
        <p:nvPicPr>
          <p:cNvPr id="4" name="diagrama núcleo" descr="C:\Users\Epine\OneDrive\Documentos\XrjEvolution\PasaTimes\Xperiments\Amezzi-Reu-X\docs\Reu-X_Nucleo_AWS.png">    </p:cNvPr>
          <p:cNvPicPr>
            <a:picLocks noChangeAspect="1"/>
          </p:cNvPicPr>
          <p:nvPr/>
        </p:nvPicPr>
        <p:blipFill>
          <a:blip r:embed="rId1"/>
          <a:stretch>
            <a:fillRect/>
          </a:stretch>
        </p:blipFill>
        <p:spPr>
          <a:xfrm>
            <a:off x="1728089" y="1188720"/>
            <a:ext cx="8735518" cy="507492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Pasos 1 y 2: del navegador a S3</a:t>
            </a:r>
            <a:endParaRPr lang="en-US" sz="3200" dirty="0"/>
          </a:p>
        </p:txBody>
      </p:sp>
      <p:sp>
        <p:nvSpPr>
          <p:cNvPr id="4" name="paso 1"/>
          <p:cNvSpPr/>
          <p:nvPr/>
        </p:nvSpPr>
        <p:spPr>
          <a:xfrm>
            <a:off x="548640" y="1463040"/>
            <a:ext cx="2533574" cy="2011680"/>
          </a:xfrm>
          <a:prstGeom prst="roundRect">
            <a:avLst>
              <a:gd name="adj" fmla="val 4545"/>
            </a:avLst>
          </a:prstGeom>
          <a:solidFill>
            <a:schemeClr val="bg2"/>
          </a:solidFill>
          <a:ln w="15875">
            <a:solidFill>
              <a:schemeClr val="accent1"/>
            </a:solidFill>
            <a:prstDash val="solid"/>
          </a:ln>
        </p:spPr>
      </p:sp>
      <p:sp>
        <p:nvSpPr>
          <p:cNvPr id="5" name="Text 2"/>
          <p:cNvSpPr txBox="1"/>
          <p:nvPr/>
        </p:nvSpPr>
        <p:spPr>
          <a:xfrm>
            <a:off x="685800"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685800"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Cargar</a:t>
            </a:r>
            <a:endParaRPr lang="en-US" sz="1500" dirty="0"/>
          </a:p>
        </p:txBody>
      </p:sp>
      <p:sp>
        <p:nvSpPr>
          <p:cNvPr id="7" name="Text 4"/>
          <p:cNvSpPr txBox="1"/>
          <p:nvPr/>
        </p:nvSpPr>
        <p:spPr>
          <a:xfrm>
            <a:off x="685800" y="2423160"/>
            <a:ext cx="2259254" cy="960120"/>
          </a:xfrm>
          <a:prstGeom prst="rect">
            <a:avLst/>
          </a:prstGeom>
          <a:noFill/>
          <a:ln/>
        </p:spPr>
        <p:txBody>
          <a:bodyPr wrap="square" lIns="0" tIns="0" rIns="0" bIns="0" rtlCol="0" anchor="t"/>
          <a:lstStyle/>
          <a:p>
            <a:pPr indent="0" marL="0">
              <a:buNone/>
            </a:pPr>
            <a:r>
              <a:rPr lang="en-US" sz="1300" dirty="0">
                <a:solidFill>
                  <a:schemeClr val="tx1"/>
                </a:solidFill>
              </a:rPr>
              <a:t>El usuario elige la grabación o pega el texto, y llena los datos opcionales</a:t>
            </a:r>
            <a:endParaRPr lang="en-US" sz="1300" dirty="0"/>
          </a:p>
        </p:txBody>
      </p:sp>
      <p:sp>
        <p:nvSpPr>
          <p:cNvPr id="8" name="flecha 1"/>
          <p:cNvSpPr/>
          <p:nvPr/>
        </p:nvSpPr>
        <p:spPr>
          <a:xfrm>
            <a:off x="3127934" y="2350008"/>
            <a:ext cx="237744" cy="237744"/>
          </a:xfrm>
          <a:prstGeom prst="rightArrow">
            <a:avLst/>
          </a:prstGeom>
          <a:solidFill>
            <a:schemeClr val="accent2"/>
          </a:solidFill>
          <a:ln w="12700">
            <a:solidFill>
              <a:schemeClr val="accent2"/>
            </a:solidFill>
            <a:prstDash val="solid"/>
          </a:ln>
        </p:spPr>
      </p:sp>
      <p:sp>
        <p:nvSpPr>
          <p:cNvPr id="9" name="paso 2"/>
          <p:cNvSpPr/>
          <p:nvPr/>
        </p:nvSpPr>
        <p:spPr>
          <a:xfrm>
            <a:off x="3402254" y="1463040"/>
            <a:ext cx="2533574" cy="2011680"/>
          </a:xfrm>
          <a:prstGeom prst="roundRect">
            <a:avLst>
              <a:gd name="adj" fmla="val 4545"/>
            </a:avLst>
          </a:prstGeom>
          <a:solidFill>
            <a:schemeClr val="bg2"/>
          </a:solidFill>
          <a:ln w="15875">
            <a:solidFill>
              <a:schemeClr val="accent1"/>
            </a:solidFill>
            <a:prstDash val="solid"/>
          </a:ln>
        </p:spPr>
      </p:sp>
      <p:sp>
        <p:nvSpPr>
          <p:cNvPr id="10" name="Text 7"/>
          <p:cNvSpPr txBox="1"/>
          <p:nvPr/>
        </p:nvSpPr>
        <p:spPr>
          <a:xfrm>
            <a:off x="3539414"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539414"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Pedir permiso</a:t>
            </a:r>
            <a:endParaRPr lang="en-US" sz="1500" dirty="0"/>
          </a:p>
        </p:txBody>
      </p:sp>
      <p:sp>
        <p:nvSpPr>
          <p:cNvPr id="12" name="Text 9"/>
          <p:cNvSpPr txBox="1"/>
          <p:nvPr/>
        </p:nvSpPr>
        <p:spPr>
          <a:xfrm>
            <a:off x="3539414" y="2423160"/>
            <a:ext cx="2259254" cy="960120"/>
          </a:xfrm>
          <a:prstGeom prst="rect">
            <a:avLst/>
          </a:prstGeom>
          <a:noFill/>
          <a:ln/>
        </p:spPr>
        <p:txBody>
          <a:bodyPr wrap="square" lIns="0" tIns="0" rIns="0" bIns="0" rtlCol="0" anchor="t"/>
          <a:lstStyle/>
          <a:p>
            <a:pPr indent="0" marL="0">
              <a:buNone/>
            </a:pPr>
            <a:r>
              <a:rPr lang="en-US" sz="1300" dirty="0">
                <a:solidFill>
                  <a:schemeClr val="tx1"/>
                </a:solidFill>
              </a:rPr>
              <a:t>POST /api/subir: la app valida formato, tamaño y cuota del usuario</a:t>
            </a:r>
            <a:endParaRPr lang="en-US" sz="1300" dirty="0"/>
          </a:p>
        </p:txBody>
      </p:sp>
      <p:sp>
        <p:nvSpPr>
          <p:cNvPr id="13" name="flecha 2"/>
          <p:cNvSpPr/>
          <p:nvPr/>
        </p:nvSpPr>
        <p:spPr>
          <a:xfrm>
            <a:off x="5981548" y="2350008"/>
            <a:ext cx="237744" cy="237744"/>
          </a:xfrm>
          <a:prstGeom prst="rightArrow">
            <a:avLst/>
          </a:prstGeom>
          <a:solidFill>
            <a:schemeClr val="accent2"/>
          </a:solidFill>
          <a:ln w="12700">
            <a:solidFill>
              <a:schemeClr val="accent2"/>
            </a:solidFill>
            <a:prstDash val="solid"/>
          </a:ln>
        </p:spPr>
      </p:sp>
      <p:sp>
        <p:nvSpPr>
          <p:cNvPr id="14" name="paso 3"/>
          <p:cNvSpPr/>
          <p:nvPr/>
        </p:nvSpPr>
        <p:spPr>
          <a:xfrm>
            <a:off x="6255868" y="1463040"/>
            <a:ext cx="2533574" cy="2011680"/>
          </a:xfrm>
          <a:prstGeom prst="roundRect">
            <a:avLst>
              <a:gd name="adj" fmla="val 4545"/>
            </a:avLst>
          </a:prstGeom>
          <a:solidFill>
            <a:schemeClr val="bg2"/>
          </a:solidFill>
          <a:ln w="15875">
            <a:solidFill>
              <a:schemeClr val="accent1"/>
            </a:solidFill>
            <a:prstDash val="solid"/>
          </a:ln>
        </p:spPr>
      </p:sp>
      <p:sp>
        <p:nvSpPr>
          <p:cNvPr id="15" name="Text 12"/>
          <p:cNvSpPr txBox="1"/>
          <p:nvPr/>
        </p:nvSpPr>
        <p:spPr>
          <a:xfrm>
            <a:off x="6393028"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6393028"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URL firmada</a:t>
            </a:r>
            <a:endParaRPr lang="en-US" sz="1500" dirty="0"/>
          </a:p>
        </p:txBody>
      </p:sp>
      <p:sp>
        <p:nvSpPr>
          <p:cNvPr id="17" name="Text 14"/>
          <p:cNvSpPr txBox="1"/>
          <p:nvPr/>
        </p:nvSpPr>
        <p:spPr>
          <a:xfrm>
            <a:off x="6393028" y="2423160"/>
            <a:ext cx="2259254" cy="960120"/>
          </a:xfrm>
          <a:prstGeom prst="rect">
            <a:avLst/>
          </a:prstGeom>
          <a:noFill/>
          <a:ln/>
        </p:spPr>
        <p:txBody>
          <a:bodyPr wrap="square" lIns="0" tIns="0" rIns="0" bIns="0" rtlCol="0" anchor="t"/>
          <a:lstStyle/>
          <a:p>
            <a:pPr indent="0" marL="0">
              <a:buNone/>
            </a:pPr>
            <a:r>
              <a:rPr lang="en-US" sz="1300" dirty="0">
                <a:solidFill>
                  <a:schemeClr val="tx1"/>
                </a:solidFill>
              </a:rPr>
              <a:t>La app firma un PUT de S3 válido 1 hora para entradas/&lt;uuid&gt;-archivo</a:t>
            </a:r>
            <a:endParaRPr lang="en-US" sz="1300" dirty="0"/>
          </a:p>
        </p:txBody>
      </p:sp>
      <p:sp>
        <p:nvSpPr>
          <p:cNvPr id="18" name="flecha 3"/>
          <p:cNvSpPr/>
          <p:nvPr/>
        </p:nvSpPr>
        <p:spPr>
          <a:xfrm>
            <a:off x="8835161" y="2350008"/>
            <a:ext cx="237744" cy="237744"/>
          </a:xfrm>
          <a:prstGeom prst="rightArrow">
            <a:avLst/>
          </a:prstGeom>
          <a:solidFill>
            <a:schemeClr val="accent2"/>
          </a:solidFill>
          <a:ln w="12700">
            <a:solidFill>
              <a:schemeClr val="accent2"/>
            </a:solidFill>
            <a:prstDash val="solid"/>
          </a:ln>
        </p:spPr>
      </p:sp>
      <p:sp>
        <p:nvSpPr>
          <p:cNvPr id="19" name="paso 4"/>
          <p:cNvSpPr/>
          <p:nvPr/>
        </p:nvSpPr>
        <p:spPr>
          <a:xfrm>
            <a:off x="9109481" y="1463040"/>
            <a:ext cx="2533574" cy="2011680"/>
          </a:xfrm>
          <a:prstGeom prst="roundRect">
            <a:avLst>
              <a:gd name="adj" fmla="val 4545"/>
            </a:avLst>
          </a:prstGeom>
          <a:solidFill>
            <a:schemeClr val="bg2"/>
          </a:solidFill>
          <a:ln w="15875">
            <a:solidFill>
              <a:schemeClr val="accent1"/>
            </a:solidFill>
            <a:prstDash val="solid"/>
          </a:ln>
        </p:spPr>
      </p:sp>
      <p:sp>
        <p:nvSpPr>
          <p:cNvPr id="20" name="Text 17"/>
          <p:cNvSpPr txBox="1"/>
          <p:nvPr/>
        </p:nvSpPr>
        <p:spPr>
          <a:xfrm>
            <a:off x="9246641"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9246641"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Subida directa</a:t>
            </a:r>
            <a:endParaRPr lang="en-US" sz="1500" dirty="0"/>
          </a:p>
        </p:txBody>
      </p:sp>
      <p:sp>
        <p:nvSpPr>
          <p:cNvPr id="22" name="Text 19"/>
          <p:cNvSpPr txBox="1"/>
          <p:nvPr/>
        </p:nvSpPr>
        <p:spPr>
          <a:xfrm>
            <a:off x="9246641" y="2423160"/>
            <a:ext cx="2259254" cy="960120"/>
          </a:xfrm>
          <a:prstGeom prst="rect">
            <a:avLst/>
          </a:prstGeom>
          <a:noFill/>
          <a:ln/>
        </p:spPr>
        <p:txBody>
          <a:bodyPr wrap="square" lIns="0" tIns="0" rIns="0" bIns="0" rtlCol="0" anchor="t"/>
          <a:lstStyle/>
          <a:p>
            <a:pPr indent="0" marL="0">
              <a:buNone/>
            </a:pPr>
            <a:r>
              <a:rPr lang="en-US" sz="1300" dirty="0">
                <a:solidFill>
                  <a:schemeClr val="tx1"/>
                </a:solidFill>
              </a:rPr>
              <a:t>El navegador envía el archivo a S3 y muestra el porcentaje de avance</a:t>
            </a:r>
            <a:endParaRPr lang="en-US" sz="1300" dirty="0"/>
          </a:p>
        </p:txBody>
      </p:sp>
      <p:sp>
        <p:nvSpPr>
          <p:cNvPr id="23" name="panel por qué"/>
          <p:cNvSpPr/>
          <p:nvPr/>
        </p:nvSpPr>
        <p:spPr>
          <a:xfrm>
            <a:off x="548640" y="3931920"/>
            <a:ext cx="11094415" cy="2148840"/>
          </a:xfrm>
          <a:prstGeom prst="roundRect">
            <a:avLst>
              <a:gd name="adj" fmla="val 5106"/>
            </a:avLst>
          </a:prstGeom>
          <a:solidFill>
            <a:schemeClr val="bg2"/>
          </a:solidFill>
          <a:ln w="12700">
            <a:solidFill>
              <a:schemeClr val="bg2"/>
            </a:solidFill>
            <a:prstDash val="solid"/>
          </a:ln>
        </p:spPr>
      </p:sp>
      <p:sp>
        <p:nvSpPr>
          <p:cNvPr id="24" name="Text 21"/>
          <p:cNvSpPr txBox="1"/>
          <p:nvPr/>
        </p:nvSpPr>
        <p:spPr>
          <a:xfrm>
            <a:off x="822960" y="4069080"/>
            <a:ext cx="5486400" cy="411480"/>
          </a:xfrm>
          <a:prstGeom prst="rect">
            <a:avLst/>
          </a:prstGeom>
          <a:noFill/>
          <a:ln/>
        </p:spPr>
        <p:txBody>
          <a:bodyPr wrap="square" lIns="0" tIns="0" rIns="0" bIns="0" rtlCol="0" anchor="ctr"/>
          <a:lstStyle/>
          <a:p>
            <a:pPr indent="0" marL="0">
              <a:buNone/>
            </a:pPr>
            <a:r>
              <a:rPr lang="en-US" sz="1600" b="1" dirty="0">
                <a:solidFill>
                  <a:schemeClr val="accent2"/>
                </a:solidFill>
              </a:rPr>
              <a:t>Por qué así</a:t>
            </a:r>
            <a:endParaRPr lang="en-US" sz="1600" dirty="0"/>
          </a:p>
        </p:txBody>
      </p:sp>
      <p:sp>
        <p:nvSpPr>
          <p:cNvPr id="25" name="Text 22"/>
          <p:cNvSpPr txBox="1"/>
          <p:nvPr/>
        </p:nvSpPr>
        <p:spPr>
          <a:xfrm>
            <a:off x="822960" y="4572000"/>
            <a:ext cx="10545775"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El servidor no gasta memoria ni ancho de banda en videos grandes</a:t>
            </a:r>
            <a:endParaRPr lang="en-US" sz="1500" dirty="0"/>
          </a:p>
          <a:p>
            <a:pPr marL="342900" indent="-342900">
              <a:spcAft>
                <a:spcPts val="800"/>
              </a:spcAft>
              <a:buSzPct val="100000"/>
              <a:buChar char="•"/>
            </a:pPr>
            <a:r>
              <a:rPr lang="en-US" sz="1500" dirty="0">
                <a:solidFill>
                  <a:schemeClr val="tx1"/>
                </a:solidFill>
              </a:rPr>
              <a:t>S3 solo acepta subidas desde el dominio de Reu-X (CORS)</a:t>
            </a:r>
            <a:endParaRPr lang="en-US" sz="1500" dirty="0"/>
          </a:p>
          <a:p>
            <a:pPr marL="342900" indent="-342900">
              <a:spcAft>
                <a:spcPts val="800"/>
              </a:spcAft>
              <a:buSzPct val="100000"/>
              <a:buChar char="•"/>
            </a:pPr>
            <a:r>
              <a:rPr lang="en-US" sz="1500" dirty="0">
                <a:solidFill>
                  <a:schemeClr val="tx1"/>
                </a:solidFill>
              </a:rPr>
              <a:t>La URL vence en 1 hora y sirve para un único archivo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Pasos 3 y 4: Transcribe lee y escribe en S3</a:t>
            </a:r>
            <a:endParaRPr lang="en-US" sz="3200" dirty="0"/>
          </a:p>
        </p:txBody>
      </p:sp>
      <p:sp>
        <p:nvSpPr>
          <p:cNvPr id="4" name="tarjeta Aplicación"/>
          <p:cNvSpPr/>
          <p:nvPr/>
        </p:nvSpPr>
        <p:spPr>
          <a:xfrm>
            <a:off x="548640" y="1417320"/>
            <a:ext cx="324612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5" name="fondo icono Aplicación"/>
          <p:cNvSpPr/>
          <p:nvPr/>
        </p:nvSpPr>
        <p:spPr>
          <a:xfrm>
            <a:off x="777240" y="1645920"/>
            <a:ext cx="685800" cy="685800"/>
          </a:xfrm>
          <a:prstGeom prst="roundRect">
            <a:avLst>
              <a:gd name="adj" fmla="val 13333"/>
            </a:avLst>
          </a:prstGeom>
          <a:solidFill>
            <a:schemeClr val="bg1"/>
          </a:solidFill>
          <a:ln w="12700">
            <a:solidFill>
              <a:schemeClr val="bg1"/>
            </a:solidFill>
            <a:prstDash val="solid"/>
          </a:ln>
        </p:spPr>
      </p:sp>
      <p:pic>
        <p:nvPicPr>
          <p:cNvPr id="6" name="icono Aplicación" descr="C:\Users\Epine\OneDrive\Documentos\XrjEvolution\PasaTimes\Xperiments\Amezzi-Reu-X\docs\fuentes\iconos\ec2.png">    </p:cNvPr>
          <p:cNvPicPr>
            <a:picLocks noChangeAspect="1"/>
          </p:cNvPicPr>
          <p:nvPr/>
        </p:nvPicPr>
        <p:blipFill>
          <a:blip r:embed="rId1"/>
          <a:stretch>
            <a:fillRect/>
          </a:stretch>
        </p:blipFill>
        <p:spPr>
          <a:xfrm>
            <a:off x="841248" y="1709928"/>
            <a:ext cx="557784" cy="557784"/>
          </a:xfrm>
          <a:prstGeom prst="rect">
            <a:avLst/>
          </a:prstGeom>
        </p:spPr>
      </p:pic>
      <p:sp>
        <p:nvSpPr>
          <p:cNvPr id="7" name="Text 3"/>
          <p:cNvSpPr txBox="1"/>
          <p:nvPr/>
        </p:nvSpPr>
        <p:spPr>
          <a:xfrm>
            <a:off x="1645920" y="1600200"/>
            <a:ext cx="1965960" cy="457200"/>
          </a:xfrm>
          <a:prstGeom prst="rect">
            <a:avLst/>
          </a:prstGeom>
          <a:noFill/>
          <a:ln/>
        </p:spPr>
        <p:txBody>
          <a:bodyPr wrap="square" lIns="0" tIns="0" rIns="0" bIns="0" rtlCol="0" anchor="ctr"/>
          <a:lstStyle/>
          <a:p>
            <a:pPr indent="0" marL="0">
              <a:buNone/>
            </a:pPr>
            <a:r>
              <a:rPr lang="en-US" sz="1700" b="1" dirty="0">
                <a:solidFill>
                  <a:schemeClr val="tx2"/>
                </a:solidFill>
              </a:rPr>
              <a:t>Aplicación</a:t>
            </a:r>
            <a:endParaRPr lang="en-US" sz="1700" dirty="0"/>
          </a:p>
        </p:txBody>
      </p:sp>
      <p:sp>
        <p:nvSpPr>
          <p:cNvPr id="8" name="Text 4"/>
          <p:cNvSpPr txBox="1"/>
          <p:nvPr/>
        </p:nvSpPr>
        <p:spPr>
          <a:xfrm>
            <a:off x="777240" y="2468880"/>
            <a:ext cx="2788920" cy="17373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POST /api/transcribir</a:t>
            </a:r>
            <a:endParaRPr lang="en-US" sz="1400" dirty="0"/>
          </a:p>
          <a:p>
            <a:pPr indent="0" marL="0">
              <a:spcAft>
                <a:spcPts val="400"/>
              </a:spcAft>
              <a:buNone/>
            </a:pPr>
            <a:r>
              <a:rPr lang="en-US" sz="1400" dirty="0">
                <a:solidFill>
                  <a:schemeClr val="tx1"/>
                </a:solidFill>
              </a:rPr>
              <a:t>StartTranscriptionJob</a:t>
            </a:r>
            <a:endParaRPr lang="en-US" sz="1400" dirty="0"/>
          </a:p>
          <a:p>
            <a:pPr indent="0" marL="0">
              <a:spcAft>
                <a:spcPts val="400"/>
              </a:spcAft>
              <a:buNone/>
            </a:pPr>
            <a:r>
              <a:rPr lang="en-US" sz="1400" dirty="0">
                <a:solidFill>
                  <a:schemeClr val="tx1"/>
                </a:solidFill>
              </a:rPr>
              <a:t>idioma automático · 10 hablantes</a:t>
            </a:r>
            <a:endParaRPr lang="en-US" sz="1400" dirty="0"/>
          </a:p>
        </p:txBody>
      </p:sp>
      <p:sp>
        <p:nvSpPr>
          <p:cNvPr id="9" name="tarjeta Amazon Transcribe"/>
          <p:cNvSpPr/>
          <p:nvPr/>
        </p:nvSpPr>
        <p:spPr>
          <a:xfrm>
            <a:off x="4480560" y="1417320"/>
            <a:ext cx="324612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0" name="fondo icono Amazon Transcribe"/>
          <p:cNvSpPr/>
          <p:nvPr/>
        </p:nvSpPr>
        <p:spPr>
          <a:xfrm>
            <a:off x="4709160" y="1645920"/>
            <a:ext cx="685800" cy="685800"/>
          </a:xfrm>
          <a:prstGeom prst="roundRect">
            <a:avLst>
              <a:gd name="adj" fmla="val 13333"/>
            </a:avLst>
          </a:prstGeom>
          <a:solidFill>
            <a:schemeClr val="bg1"/>
          </a:solidFill>
          <a:ln w="12700">
            <a:solidFill>
              <a:schemeClr val="bg1"/>
            </a:solidFill>
            <a:prstDash val="solid"/>
          </a:ln>
        </p:spPr>
      </p:sp>
      <p:pic>
        <p:nvPicPr>
          <p:cNvPr id="11" name="icono Amazon Transcribe" descr="C:\Users\Epine\OneDrive\Documentos\XrjEvolution\PasaTimes\Xperiments\Amezzi-Reu-X\docs\fuentes\iconos\transcribe.png">    </p:cNvPr>
          <p:cNvPicPr>
            <a:picLocks noChangeAspect="1"/>
          </p:cNvPicPr>
          <p:nvPr/>
        </p:nvPicPr>
        <p:blipFill>
          <a:blip r:embed="rId2"/>
          <a:stretch>
            <a:fillRect/>
          </a:stretch>
        </p:blipFill>
        <p:spPr>
          <a:xfrm>
            <a:off x="4773168" y="1709928"/>
            <a:ext cx="557784" cy="557784"/>
          </a:xfrm>
          <a:prstGeom prst="rect">
            <a:avLst/>
          </a:prstGeom>
        </p:spPr>
      </p:pic>
      <p:sp>
        <p:nvSpPr>
          <p:cNvPr id="12" name="Text 7"/>
          <p:cNvSpPr txBox="1"/>
          <p:nvPr/>
        </p:nvSpPr>
        <p:spPr>
          <a:xfrm>
            <a:off x="5577840" y="1600200"/>
            <a:ext cx="1965960" cy="457200"/>
          </a:xfrm>
          <a:prstGeom prst="rect">
            <a:avLst/>
          </a:prstGeom>
          <a:noFill/>
          <a:ln/>
        </p:spPr>
        <p:txBody>
          <a:bodyPr wrap="square" lIns="0" tIns="0" rIns="0" bIns="0" rtlCol="0" anchor="ctr"/>
          <a:lstStyle/>
          <a:p>
            <a:pPr indent="0" marL="0">
              <a:buNone/>
            </a:pPr>
            <a:r>
              <a:rPr lang="en-US" sz="1700" b="1" dirty="0">
                <a:solidFill>
                  <a:schemeClr val="tx2"/>
                </a:solidFill>
              </a:rPr>
              <a:t>Amazon Transcribe</a:t>
            </a:r>
            <a:endParaRPr lang="en-US" sz="1700" dirty="0"/>
          </a:p>
        </p:txBody>
      </p:sp>
      <p:sp>
        <p:nvSpPr>
          <p:cNvPr id="13" name="Text 8"/>
          <p:cNvSpPr txBox="1"/>
          <p:nvPr/>
        </p:nvSpPr>
        <p:spPr>
          <a:xfrm>
            <a:off x="4709160" y="2468880"/>
            <a:ext cx="2788920" cy="17373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Lee s3://…/entradas/</a:t>
            </a:r>
            <a:endParaRPr lang="en-US" sz="1400" dirty="0"/>
          </a:p>
          <a:p>
            <a:pPr indent="0" marL="0">
              <a:spcAft>
                <a:spcPts val="400"/>
              </a:spcAft>
              <a:buNone/>
            </a:pPr>
            <a:r>
              <a:rPr lang="en-US" sz="1400" dirty="0">
                <a:solidFill>
                  <a:schemeClr val="tx1"/>
                </a:solidFill>
              </a:rPr>
              <a:t>Reconoce la voz</a:t>
            </a:r>
            <a:endParaRPr lang="en-US" sz="1400" dirty="0"/>
          </a:p>
          <a:p>
            <a:pPr indent="0" marL="0">
              <a:spcAft>
                <a:spcPts val="400"/>
              </a:spcAft>
              <a:buNone/>
            </a:pPr>
            <a:r>
              <a:rPr lang="en-US" sz="1400" dirty="0">
                <a:solidFill>
                  <a:schemeClr val="tx1"/>
                </a:solidFill>
              </a:rPr>
              <a:t>Escribe s3://…/transcripciones/</a:t>
            </a:r>
            <a:endParaRPr lang="en-US" sz="1400" dirty="0"/>
          </a:p>
        </p:txBody>
      </p:sp>
      <p:sp>
        <p:nvSpPr>
          <p:cNvPr id="14" name="tarjeta Amazon S3"/>
          <p:cNvSpPr/>
          <p:nvPr/>
        </p:nvSpPr>
        <p:spPr>
          <a:xfrm>
            <a:off x="8412480" y="1417320"/>
            <a:ext cx="324612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5" name="fondo icono Amazon S3"/>
          <p:cNvSpPr/>
          <p:nvPr/>
        </p:nvSpPr>
        <p:spPr>
          <a:xfrm>
            <a:off x="8641080" y="1645920"/>
            <a:ext cx="685800" cy="685800"/>
          </a:xfrm>
          <a:prstGeom prst="roundRect">
            <a:avLst>
              <a:gd name="adj" fmla="val 13333"/>
            </a:avLst>
          </a:prstGeom>
          <a:solidFill>
            <a:schemeClr val="bg1"/>
          </a:solidFill>
          <a:ln w="12700">
            <a:solidFill>
              <a:schemeClr val="bg1"/>
            </a:solidFill>
            <a:prstDash val="solid"/>
          </a:ln>
        </p:spPr>
      </p:sp>
      <p:pic>
        <p:nvPicPr>
          <p:cNvPr id="16" name="icono Amazon S3" descr="C:\Users\Epine\OneDrive\Documentos\XrjEvolution\PasaTimes\Xperiments\Amezzi-Reu-X\docs\fuentes\iconos\s3.png">    </p:cNvPr>
          <p:cNvPicPr>
            <a:picLocks noChangeAspect="1"/>
          </p:cNvPicPr>
          <p:nvPr/>
        </p:nvPicPr>
        <p:blipFill>
          <a:blip r:embed="rId3"/>
          <a:stretch>
            <a:fillRect/>
          </a:stretch>
        </p:blipFill>
        <p:spPr>
          <a:xfrm>
            <a:off x="8705088" y="1709928"/>
            <a:ext cx="557784" cy="557784"/>
          </a:xfrm>
          <a:prstGeom prst="rect">
            <a:avLst/>
          </a:prstGeom>
        </p:spPr>
      </p:pic>
      <p:sp>
        <p:nvSpPr>
          <p:cNvPr id="17" name="Text 11"/>
          <p:cNvSpPr txBox="1"/>
          <p:nvPr/>
        </p:nvSpPr>
        <p:spPr>
          <a:xfrm>
            <a:off x="9509760" y="1600200"/>
            <a:ext cx="1965960" cy="457200"/>
          </a:xfrm>
          <a:prstGeom prst="rect">
            <a:avLst/>
          </a:prstGeom>
          <a:noFill/>
          <a:ln/>
        </p:spPr>
        <p:txBody>
          <a:bodyPr wrap="square" lIns="0" tIns="0" rIns="0" bIns="0" rtlCol="0" anchor="ctr"/>
          <a:lstStyle/>
          <a:p>
            <a:pPr indent="0" marL="0">
              <a:buNone/>
            </a:pPr>
            <a:r>
              <a:rPr lang="en-US" sz="1700" b="1" dirty="0">
                <a:solidFill>
                  <a:schemeClr val="tx2"/>
                </a:solidFill>
              </a:rPr>
              <a:t>Amazon S3</a:t>
            </a:r>
            <a:endParaRPr lang="en-US" sz="1700" dirty="0"/>
          </a:p>
        </p:txBody>
      </p:sp>
      <p:sp>
        <p:nvSpPr>
          <p:cNvPr id="18" name="Text 12"/>
          <p:cNvSpPr txBox="1"/>
          <p:nvPr/>
        </p:nvSpPr>
        <p:spPr>
          <a:xfrm>
            <a:off x="8641080" y="2468880"/>
            <a:ext cx="2788920" cy="17373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entradas/ (audio)</a:t>
            </a:r>
            <a:endParaRPr lang="en-US" sz="1400" dirty="0"/>
          </a:p>
          <a:p>
            <a:pPr indent="0" marL="0">
              <a:spcAft>
                <a:spcPts val="400"/>
              </a:spcAft>
              <a:buNone/>
            </a:pPr>
            <a:r>
              <a:rPr lang="en-US" sz="1400" dirty="0">
                <a:solidFill>
                  <a:schemeClr val="tx1"/>
                </a:solidFill>
              </a:rPr>
              <a:t>transcripciones/ (JSON)</a:t>
            </a:r>
            <a:endParaRPr lang="en-US" sz="1400" dirty="0"/>
          </a:p>
          <a:p>
            <a:pPr indent="0" marL="0">
              <a:spcAft>
                <a:spcPts val="400"/>
              </a:spcAft>
              <a:buNone/>
            </a:pPr>
            <a:r>
              <a:rPr lang="en-US" sz="1400" dirty="0">
                <a:solidFill>
                  <a:schemeClr val="tx1"/>
                </a:solidFill>
              </a:rPr>
              <a:t>ambos se borran a los 7 días</a:t>
            </a:r>
            <a:endParaRPr lang="en-US" sz="1400" dirty="0"/>
          </a:p>
        </p:txBody>
      </p:sp>
      <p:sp>
        <p:nvSpPr>
          <p:cNvPr id="19" name="flecha transcribe 0"/>
          <p:cNvSpPr/>
          <p:nvPr/>
        </p:nvSpPr>
        <p:spPr>
          <a:xfrm>
            <a:off x="3794760" y="2606040"/>
            <a:ext cx="685800" cy="411480"/>
          </a:xfrm>
          <a:prstGeom prst="rightArrow">
            <a:avLst/>
          </a:prstGeom>
          <a:solidFill>
            <a:schemeClr val="accent2"/>
          </a:solidFill>
          <a:ln w="12700">
            <a:solidFill>
              <a:schemeClr val="accent2"/>
            </a:solidFill>
            <a:prstDash val="solid"/>
          </a:ln>
        </p:spPr>
      </p:sp>
      <p:sp>
        <p:nvSpPr>
          <p:cNvPr id="20" name="flecha transcribe 1"/>
          <p:cNvSpPr/>
          <p:nvPr/>
        </p:nvSpPr>
        <p:spPr>
          <a:xfrm>
            <a:off x="7726680" y="2606040"/>
            <a:ext cx="685800" cy="411480"/>
          </a:xfrm>
          <a:prstGeom prst="rightArrow">
            <a:avLst/>
          </a:prstGeom>
          <a:solidFill>
            <a:schemeClr val="accent2"/>
          </a:solidFill>
          <a:ln w="12700">
            <a:solidFill>
              <a:schemeClr val="accent2"/>
            </a:solidFill>
            <a:prstDash val="solid"/>
          </a:ln>
        </p:spPr>
      </p:sp>
      <p:sp>
        <p:nvSpPr>
          <p:cNvPr id="21" name="Text 15"/>
          <p:cNvSpPr txBox="1"/>
          <p:nvPr/>
        </p:nvSpPr>
        <p:spPr>
          <a:xfrm>
            <a:off x="548640" y="4709160"/>
            <a:ext cx="11094415" cy="822960"/>
          </a:xfrm>
          <a:prstGeom prst="rect">
            <a:avLst/>
          </a:prstGeom>
          <a:noFill/>
          <a:ln/>
        </p:spPr>
        <p:txBody>
          <a:bodyPr wrap="square" lIns="0" tIns="0" rIns="0" bIns="0" rtlCol="0" anchor="ctr"/>
          <a:lstStyle/>
          <a:p>
            <a:pPr indent="0" marL="0">
              <a:buNone/>
            </a:pPr>
            <a:r>
              <a:rPr lang="en-US" sz="1600" i="1" dirty="0">
                <a:solidFill>
                  <a:schemeClr val="tx2"/>
                </a:solidFill>
              </a:rPr>
              <a:t>La aplicación consulta el estado cada 5 segundos (POST /api/transcribir/estado). Al terminar, lee el JSON de S3.</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Paso 5: del JSON al texto por hablante</a:t>
            </a:r>
            <a:endParaRPr lang="en-US" sz="3200" dirty="0"/>
          </a:p>
        </p:txBody>
      </p:sp>
      <p:sp>
        <p:nvSpPr>
          <p:cNvPr id="4" name="Text 1"/>
          <p:cNvSpPr txBox="1"/>
          <p:nvPr/>
        </p:nvSpPr>
        <p:spPr>
          <a:xfrm>
            <a:off x="548640" y="1371600"/>
            <a:ext cx="5303520" cy="411480"/>
          </a:xfrm>
          <a:prstGeom prst="rect">
            <a:avLst/>
          </a:prstGeom>
          <a:noFill/>
          <a:ln/>
        </p:spPr>
        <p:txBody>
          <a:bodyPr wrap="square" lIns="0" tIns="0" rIns="0" bIns="0" rtlCol="0" anchor="ctr"/>
          <a:lstStyle/>
          <a:p>
            <a:pPr indent="0" marL="0">
              <a:buNone/>
            </a:pPr>
            <a:r>
              <a:rPr lang="en-US" sz="1600" b="1" dirty="0">
                <a:solidFill>
                  <a:schemeClr val="accent2"/>
                </a:solidFill>
              </a:rPr>
              <a:t>Salida de Transcribe (JSON)</a:t>
            </a:r>
            <a:endParaRPr lang="en-US" sz="1600" dirty="0"/>
          </a:p>
        </p:txBody>
      </p:sp>
      <p:sp>
        <p:nvSpPr>
          <p:cNvPr id="5" name="Text 2"/>
          <p:cNvSpPr txBox="1"/>
          <p:nvPr/>
        </p:nvSpPr>
        <p:spPr>
          <a:xfrm>
            <a:off x="548640" y="1828800"/>
            <a:ext cx="5303520" cy="2468880"/>
          </a:xfrm>
          <a:prstGeom prst="rect">
            <a:avLst/>
          </a:prstGeom>
          <a:solidFill>
            <a:schemeClr val="bg2"/>
          </a:solidFill>
          <a:ln/>
        </p:spPr>
        <p:txBody>
          <a:bodyPr wrap="square" lIns="2540" tIns="2540" rIns="2540" bIns="254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 "audio_segments": [</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 "speaker_label": "spk_0",</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"start_time": "0.0",</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"transcript": "Buenos días…" },</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 "speaker_label": "spk_1",</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"start_time": "12.4", … } ] }</a:t>
            </a:r>
            <a:endParaRPr lang="en-US" sz="1400" dirty="0"/>
          </a:p>
        </p:txBody>
      </p:sp>
      <p:sp>
        <p:nvSpPr>
          <p:cNvPr id="6" name="flecha formato"/>
          <p:cNvSpPr/>
          <p:nvPr/>
        </p:nvSpPr>
        <p:spPr>
          <a:xfrm>
            <a:off x="5989320" y="2834640"/>
            <a:ext cx="548640" cy="411480"/>
          </a:xfrm>
          <a:prstGeom prst="rightArrow">
            <a:avLst/>
          </a:prstGeom>
          <a:solidFill>
            <a:schemeClr val="accent2"/>
          </a:solidFill>
          <a:ln w="12700">
            <a:solidFill>
              <a:schemeClr val="accent2"/>
            </a:solidFill>
            <a:prstDash val="solid"/>
          </a:ln>
        </p:spPr>
      </p:sp>
      <p:sp>
        <p:nvSpPr>
          <p:cNvPr id="7" name="Text 4"/>
          <p:cNvSpPr txBox="1"/>
          <p:nvPr/>
        </p:nvSpPr>
        <p:spPr>
          <a:xfrm>
            <a:off x="6720840" y="1371600"/>
            <a:ext cx="4937760" cy="411480"/>
          </a:xfrm>
          <a:prstGeom prst="rect">
            <a:avLst/>
          </a:prstGeom>
          <a:noFill/>
          <a:ln/>
        </p:spPr>
        <p:txBody>
          <a:bodyPr wrap="square" lIns="0" tIns="0" rIns="0" bIns="0" rtlCol="0" anchor="ctr"/>
          <a:lstStyle/>
          <a:p>
            <a:pPr indent="0" marL="0">
              <a:buNone/>
            </a:pPr>
            <a:r>
              <a:rPr lang="en-US" sz="1600" b="1" dirty="0">
                <a:solidFill>
                  <a:schemeClr val="accent2"/>
                </a:solidFill>
              </a:rPr>
              <a:t>Texto para la minuta</a:t>
            </a:r>
            <a:endParaRPr lang="en-US" sz="1600" dirty="0"/>
          </a:p>
        </p:txBody>
      </p:sp>
      <p:sp>
        <p:nvSpPr>
          <p:cNvPr id="8" name="Text 5"/>
          <p:cNvSpPr txBox="1"/>
          <p:nvPr/>
        </p:nvSpPr>
        <p:spPr>
          <a:xfrm>
            <a:off x="6720840" y="1828800"/>
            <a:ext cx="4919472" cy="2468880"/>
          </a:xfrm>
          <a:prstGeom prst="rect">
            <a:avLst/>
          </a:prstGeom>
          <a:solidFill>
            <a:schemeClr val="bg2"/>
          </a:solidFill>
          <a:ln/>
        </p:spPr>
        <p:txBody>
          <a:bodyPr wrap="square" lIns="2540" tIns="2540" rIns="2540" bIns="2540" rtlCol="0" anchor="t"/>
          <a:lstStyle/>
          <a:p>
            <a:pPr indent="0" marL="0">
              <a:buNone/>
            </a:pPr>
            <a:r>
              <a:rPr lang="en-US" sz="1500" dirty="0">
                <a:solidFill>
                  <a:schemeClr val="tx1"/>
                </a:solidFill>
              </a:rPr>
              <a:t>[00:00] Hablante 1: Buenos días. Soy Marta Ruiz, gerente de operaciones…</a:t>
            </a:r>
            <a:endParaRPr lang="en-US" sz="1500" dirty="0"/>
          </a:p>
          <a:p>
            <a:pPr indent="0" marL="0">
              <a:buNone/>
            </a:pPr>
            <a:endParaRPr lang="en-US" sz="1500" dirty="0"/>
          </a:p>
          <a:p>
            <a:pPr indent="0" marL="0">
              <a:buNone/>
            </a:pPr>
            <a:r>
              <a:rPr lang="en-US" sz="1500" dirty="0">
                <a:solidFill>
                  <a:schemeClr val="tx1"/>
                </a:solidFill>
              </a:rPr>
              <a:t>[00:12] Hablante 2: Buenos días, Marta, soy Pedro Gómez, de compras…</a:t>
            </a:r>
            <a:endParaRPr lang="en-US" sz="1500" dirty="0"/>
          </a:p>
        </p:txBody>
      </p:sp>
      <p:sp>
        <p:nvSpPr>
          <p:cNvPr id="9" name="Text 6"/>
          <p:cNvSpPr txBox="1"/>
          <p:nvPr/>
        </p:nvSpPr>
        <p:spPr>
          <a:xfrm>
            <a:off x="548640" y="4572000"/>
            <a:ext cx="11094415" cy="548640"/>
          </a:xfrm>
          <a:prstGeom prst="rect">
            <a:avLst/>
          </a:prstGeom>
          <a:noFill/>
          <a:ln/>
        </p:spPr>
        <p:txBody>
          <a:bodyPr wrap="square" lIns="0" tIns="0" rIns="0" bIns="0" rtlCol="0" anchor="ctr"/>
          <a:lstStyle/>
          <a:p>
            <a:pPr indent="0" marL="0">
              <a:buNone/>
            </a:pPr>
            <a:r>
              <a:rPr lang="en-US" sz="1500" dirty="0">
                <a:solidFill>
                  <a:schemeClr val="tx1"/>
                </a:solidFill>
              </a:rPr>
              <a:t>lib/transcripcion.ts → formatearTranscripcion(). El usuario puede corregir este texto y regenerar la minuta.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Paso 6: Claude redacta la minuta en Bedrock</a:t>
            </a:r>
            <a:endParaRPr lang="en-US" sz="3200" dirty="0"/>
          </a:p>
        </p:txBody>
      </p:sp>
      <p:sp>
        <p:nvSpPr>
          <p:cNvPr id="4" name="tarjeta Se envía"/>
          <p:cNvSpPr/>
          <p:nvPr/>
        </p:nvSpPr>
        <p:spPr>
          <a:xfrm>
            <a:off x="548640" y="1554480"/>
            <a:ext cx="3566160" cy="365760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5" name="Text 2"/>
          <p:cNvSpPr txBox="1"/>
          <p:nvPr/>
        </p:nvSpPr>
        <p:spPr>
          <a:xfrm>
            <a:off x="777240" y="1737360"/>
            <a:ext cx="3154680" cy="457200"/>
          </a:xfrm>
          <a:prstGeom prst="rect">
            <a:avLst/>
          </a:prstGeom>
          <a:noFill/>
          <a:ln/>
        </p:spPr>
        <p:txBody>
          <a:bodyPr wrap="square" lIns="0" tIns="0" rIns="0" bIns="0" rtlCol="0" anchor="ctr"/>
          <a:lstStyle/>
          <a:p>
            <a:pPr indent="0" marL="0">
              <a:buNone/>
            </a:pPr>
            <a:r>
              <a:rPr lang="en-US" sz="1700" b="1" dirty="0">
                <a:solidFill>
                  <a:schemeClr val="tx2"/>
                </a:solidFill>
              </a:rPr>
              <a:t>Se envía</a:t>
            </a:r>
            <a:endParaRPr lang="en-US" sz="1700" dirty="0"/>
          </a:p>
        </p:txBody>
      </p:sp>
      <p:sp>
        <p:nvSpPr>
          <p:cNvPr id="6" name="Text 3"/>
          <p:cNvSpPr txBox="1"/>
          <p:nvPr/>
        </p:nvSpPr>
        <p:spPr>
          <a:xfrm>
            <a:off x="777240" y="2240280"/>
            <a:ext cx="3108960" cy="2834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Instrucciones: redactar en español formal, no inventar datos, separar acuerdos de tareas</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La transcripción y los datos de la reunión</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El esquema MinutaSchema (Zod)</a:t>
            </a:r>
            <a:endParaRPr lang="en-US" sz="1400" dirty="0"/>
          </a:p>
        </p:txBody>
      </p:sp>
      <p:sp>
        <p:nvSpPr>
          <p:cNvPr id="7" name="flecha a bedrock"/>
          <p:cNvSpPr/>
          <p:nvPr/>
        </p:nvSpPr>
        <p:spPr>
          <a:xfrm>
            <a:off x="4251960" y="3291840"/>
            <a:ext cx="548640" cy="411480"/>
          </a:xfrm>
          <a:prstGeom prst="rightArrow">
            <a:avLst/>
          </a:prstGeom>
          <a:solidFill>
            <a:schemeClr val="accent2"/>
          </a:solidFill>
          <a:ln w="12700">
            <a:solidFill>
              <a:schemeClr val="accent2"/>
            </a:solidFill>
            <a:prstDash val="solid"/>
          </a:ln>
        </p:spPr>
      </p:sp>
      <p:sp>
        <p:nvSpPr>
          <p:cNvPr id="8" name="bedrock centro"/>
          <p:cNvSpPr/>
          <p:nvPr/>
        </p:nvSpPr>
        <p:spPr>
          <a:xfrm>
            <a:off x="4937760" y="2103120"/>
            <a:ext cx="2331720" cy="2743200"/>
          </a:xfrm>
          <a:prstGeom prst="roundRect">
            <a:avLst>
              <a:gd name="adj" fmla="val 5882"/>
            </a:avLst>
          </a:prstGeom>
          <a:solidFill>
            <a:schemeClr val="bg2"/>
          </a:solidFill>
          <a:ln w="12700">
            <a:solidFill>
              <a:schemeClr val="bg2"/>
            </a:solidFill>
            <a:prstDash val="solid"/>
          </a:ln>
        </p:spPr>
      </p:sp>
      <p:pic>
        <p:nvPicPr>
          <p:cNvPr id="9" name="icono bedrock paso 6" descr="C:\Users\Epine\OneDrive\Documentos\XrjEvolution\PasaTimes\Xperiments\Amezzi-Reu-X\docs\fuentes\iconos\bedrock.png">    </p:cNvPr>
          <p:cNvPicPr>
            <a:picLocks noChangeAspect="1"/>
          </p:cNvPicPr>
          <p:nvPr/>
        </p:nvPicPr>
        <p:blipFill>
          <a:blip r:embed="rId1"/>
          <a:stretch>
            <a:fillRect/>
          </a:stretch>
        </p:blipFill>
        <p:spPr>
          <a:xfrm>
            <a:off x="5577840" y="2331720"/>
            <a:ext cx="1051560" cy="1051560"/>
          </a:xfrm>
          <a:prstGeom prst="rect">
            <a:avLst/>
          </a:prstGeom>
        </p:spPr>
      </p:pic>
      <p:sp>
        <p:nvSpPr>
          <p:cNvPr id="10" name="Text 6"/>
          <p:cNvSpPr txBox="1"/>
          <p:nvPr/>
        </p:nvSpPr>
        <p:spPr>
          <a:xfrm>
            <a:off x="5029200" y="3520440"/>
            <a:ext cx="2148840" cy="914400"/>
          </a:xfrm>
          <a:prstGeom prst="rect">
            <a:avLst/>
          </a:prstGeom>
          <a:noFill/>
          <a:ln/>
        </p:spPr>
        <p:txBody>
          <a:bodyPr wrap="square" lIns="0" tIns="0" rIns="0" bIns="0" rtlCol="0" anchor="ctr"/>
          <a:lstStyle/>
          <a:p>
            <a:pPr algn="ctr" indent="0" marL="0">
              <a:buNone/>
            </a:pPr>
            <a:r>
              <a:rPr lang="en-US" sz="1500" b="1" dirty="0">
                <a:solidFill>
                  <a:schemeClr val="tx2"/>
                </a:solidFill>
              </a:rPr>
              <a:t>Claude Sonnet 4.6</a:t>
            </a:r>
            <a:endParaRPr lang="en-US" sz="1500" dirty="0"/>
          </a:p>
          <a:p>
            <a:pPr algn="ctr" indent="0" marL="0">
              <a:buNone/>
            </a:pPr>
            <a:r>
              <a:rPr lang="en-US" sz="1500" b="1" dirty="0">
                <a:solidFill>
                  <a:schemeClr val="tx2"/>
                </a:solidFill>
              </a:rPr>
              <a:t>en Bedrock</a:t>
            </a:r>
            <a:endParaRPr lang="en-US" sz="1500" dirty="0"/>
          </a:p>
        </p:txBody>
      </p:sp>
      <p:sp>
        <p:nvSpPr>
          <p:cNvPr id="11" name="flecha desde bedrock"/>
          <p:cNvSpPr/>
          <p:nvPr/>
        </p:nvSpPr>
        <p:spPr>
          <a:xfrm>
            <a:off x="7406640" y="3291840"/>
            <a:ext cx="548640" cy="411480"/>
          </a:xfrm>
          <a:prstGeom prst="rightArrow">
            <a:avLst/>
          </a:prstGeom>
          <a:solidFill>
            <a:schemeClr val="accent2"/>
          </a:solidFill>
          <a:ln w="12700">
            <a:solidFill>
              <a:schemeClr val="accent2"/>
            </a:solidFill>
            <a:prstDash val="solid"/>
          </a:ln>
        </p:spPr>
      </p:sp>
      <p:sp>
        <p:nvSpPr>
          <p:cNvPr id="12" name="tarjeta Se recibe"/>
          <p:cNvSpPr/>
          <p:nvPr/>
        </p:nvSpPr>
        <p:spPr>
          <a:xfrm>
            <a:off x="8074152" y="1554480"/>
            <a:ext cx="3566160" cy="365760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3" name="Text 9"/>
          <p:cNvSpPr txBox="1"/>
          <p:nvPr/>
        </p:nvSpPr>
        <p:spPr>
          <a:xfrm>
            <a:off x="8302752" y="1737360"/>
            <a:ext cx="3154680" cy="457200"/>
          </a:xfrm>
          <a:prstGeom prst="rect">
            <a:avLst/>
          </a:prstGeom>
          <a:noFill/>
          <a:ln/>
        </p:spPr>
        <p:txBody>
          <a:bodyPr wrap="square" lIns="0" tIns="0" rIns="0" bIns="0" rtlCol="0" anchor="ctr"/>
          <a:lstStyle/>
          <a:p>
            <a:pPr indent="0" marL="0">
              <a:buNone/>
            </a:pPr>
            <a:r>
              <a:rPr lang="en-US" sz="1700" b="1" dirty="0">
                <a:solidFill>
                  <a:schemeClr val="tx2"/>
                </a:solidFill>
              </a:rPr>
              <a:t>Se recibe</a:t>
            </a:r>
            <a:endParaRPr lang="en-US" sz="1700" dirty="0"/>
          </a:p>
        </p:txBody>
      </p:sp>
      <p:sp>
        <p:nvSpPr>
          <p:cNvPr id="14" name="Text 10"/>
          <p:cNvSpPr txBox="1"/>
          <p:nvPr/>
        </p:nvSpPr>
        <p:spPr>
          <a:xfrm>
            <a:off x="8302752" y="2240280"/>
            <a:ext cx="3108960" cy="2834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JSON con: título, fecha, lugar, participantes, objetivo, resumen ejecutivo, agenda, temas, acuerdos, tareas, pendientes y próxima reunión</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Se valida y se descuenta una minuta de la cuota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Paso 7: los visuales se generan bajo demanda</a:t>
            </a:r>
            <a:endParaRPr lang="en-US" sz="3200" dirty="0"/>
          </a:p>
        </p:txBody>
      </p:sp>
      <p:sp>
        <p:nvSpPr>
          <p:cNvPr id="4" name="tarjeta Mapa mental"/>
          <p:cNvSpPr/>
          <p:nvPr/>
        </p:nvSpPr>
        <p:spPr>
          <a:xfrm>
            <a:off x="548640" y="1417320"/>
            <a:ext cx="2606040" cy="320040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5" name="fondo icono Mapa mental"/>
          <p:cNvSpPr/>
          <p:nvPr/>
        </p:nvSpPr>
        <p:spPr>
          <a:xfrm>
            <a:off x="777240" y="1645920"/>
            <a:ext cx="685800" cy="685800"/>
          </a:xfrm>
          <a:prstGeom prst="roundRect">
            <a:avLst>
              <a:gd name="adj" fmla="val 13333"/>
            </a:avLst>
          </a:prstGeom>
          <a:solidFill>
            <a:schemeClr val="bg1"/>
          </a:solidFill>
          <a:ln w="12700">
            <a:solidFill>
              <a:schemeClr val="bg1"/>
            </a:solidFill>
            <a:prstDash val="solid"/>
          </a:ln>
        </p:spPr>
      </p:sp>
      <p:pic>
        <p:nvPicPr>
          <p:cNvPr id="6" name="icono Mapa mental" descr="C:\Users\Epine\OneDrive\Documentos\XrjEvolution\PasaTimes\Xperiments\Amezzi-Reu-X\docs\fuentes\iconos\bedrock.png">    </p:cNvPr>
          <p:cNvPicPr>
            <a:picLocks noChangeAspect="1"/>
          </p:cNvPicPr>
          <p:nvPr/>
        </p:nvPicPr>
        <p:blipFill>
          <a:blip r:embed="rId1"/>
          <a:stretch>
            <a:fillRect/>
          </a:stretch>
        </p:blipFill>
        <p:spPr>
          <a:xfrm>
            <a:off x="841248" y="1709928"/>
            <a:ext cx="557784" cy="557784"/>
          </a:xfrm>
          <a:prstGeom prst="rect">
            <a:avLst/>
          </a:prstGeom>
        </p:spPr>
      </p:pic>
      <p:sp>
        <p:nvSpPr>
          <p:cNvPr id="7" name="Text 3"/>
          <p:cNvSpPr txBox="1"/>
          <p:nvPr/>
        </p:nvSpPr>
        <p:spPr>
          <a:xfrm>
            <a:off x="1645920" y="1600200"/>
            <a:ext cx="1325880" cy="457200"/>
          </a:xfrm>
          <a:prstGeom prst="rect">
            <a:avLst/>
          </a:prstGeom>
          <a:noFill/>
          <a:ln/>
        </p:spPr>
        <p:txBody>
          <a:bodyPr wrap="square" lIns="0" tIns="0" rIns="0" bIns="0" rtlCol="0" anchor="ctr"/>
          <a:lstStyle/>
          <a:p>
            <a:pPr indent="0" marL="0">
              <a:buNone/>
            </a:pPr>
            <a:r>
              <a:rPr lang="en-US" sz="1700" b="1" dirty="0">
                <a:solidFill>
                  <a:schemeClr val="tx2"/>
                </a:solidFill>
              </a:rPr>
              <a:t>Mapa mental</a:t>
            </a:r>
            <a:endParaRPr lang="en-US" sz="1700" dirty="0"/>
          </a:p>
        </p:txBody>
      </p:sp>
      <p:sp>
        <p:nvSpPr>
          <p:cNvPr id="8" name="Text 4"/>
          <p:cNvSpPr txBox="1"/>
          <p:nvPr/>
        </p:nvSpPr>
        <p:spPr>
          <a:xfrm>
            <a:off x="777240" y="2468880"/>
            <a:ext cx="2148840" cy="2011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Claude resume ideas clave en ramas; la app lo dibuja en SVG propio</a:t>
            </a:r>
            <a:endParaRPr lang="en-US" sz="1400" dirty="0"/>
          </a:p>
        </p:txBody>
      </p:sp>
      <p:sp>
        <p:nvSpPr>
          <p:cNvPr id="9" name="tarjeta Infografía"/>
          <p:cNvSpPr/>
          <p:nvPr/>
        </p:nvSpPr>
        <p:spPr>
          <a:xfrm>
            <a:off x="3355848" y="1417320"/>
            <a:ext cx="2606040" cy="320040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0" name="fondo icono Infografía"/>
          <p:cNvSpPr/>
          <p:nvPr/>
        </p:nvSpPr>
        <p:spPr>
          <a:xfrm>
            <a:off x="3584448" y="1645920"/>
            <a:ext cx="685800" cy="685800"/>
          </a:xfrm>
          <a:prstGeom prst="roundRect">
            <a:avLst>
              <a:gd name="adj" fmla="val 13333"/>
            </a:avLst>
          </a:prstGeom>
          <a:solidFill>
            <a:schemeClr val="bg1"/>
          </a:solidFill>
          <a:ln w="12700">
            <a:solidFill>
              <a:schemeClr val="bg1"/>
            </a:solidFill>
            <a:prstDash val="solid"/>
          </a:ln>
        </p:spPr>
      </p:sp>
      <p:pic>
        <p:nvPicPr>
          <p:cNvPr id="11" name="icono Infografía" descr="C:\Users\Epine\OneDrive\Documentos\XrjEvolution\PasaTimes\Xperiments\Amezzi-Reu-X\docs\fuentes\iconos\bedrock.png">    </p:cNvPr>
          <p:cNvPicPr>
            <a:picLocks noChangeAspect="1"/>
          </p:cNvPicPr>
          <p:nvPr/>
        </p:nvPicPr>
        <p:blipFill>
          <a:blip r:embed="rId2"/>
          <a:stretch>
            <a:fillRect/>
          </a:stretch>
        </p:blipFill>
        <p:spPr>
          <a:xfrm>
            <a:off x="3648456" y="1709928"/>
            <a:ext cx="557784" cy="557784"/>
          </a:xfrm>
          <a:prstGeom prst="rect">
            <a:avLst/>
          </a:prstGeom>
        </p:spPr>
      </p:pic>
      <p:sp>
        <p:nvSpPr>
          <p:cNvPr id="12" name="Text 7"/>
          <p:cNvSpPr txBox="1"/>
          <p:nvPr/>
        </p:nvSpPr>
        <p:spPr>
          <a:xfrm>
            <a:off x="4453128" y="1600200"/>
            <a:ext cx="1325880" cy="457200"/>
          </a:xfrm>
          <a:prstGeom prst="rect">
            <a:avLst/>
          </a:prstGeom>
          <a:noFill/>
          <a:ln/>
        </p:spPr>
        <p:txBody>
          <a:bodyPr wrap="square" lIns="0" tIns="0" rIns="0" bIns="0" rtlCol="0" anchor="ctr"/>
          <a:lstStyle/>
          <a:p>
            <a:pPr indent="0" marL="0">
              <a:buNone/>
            </a:pPr>
            <a:r>
              <a:rPr lang="en-US" sz="1700" b="1" dirty="0">
                <a:solidFill>
                  <a:schemeClr val="tx2"/>
                </a:solidFill>
              </a:rPr>
              <a:t>Infografía</a:t>
            </a:r>
            <a:endParaRPr lang="en-US" sz="1700" dirty="0"/>
          </a:p>
        </p:txBody>
      </p:sp>
      <p:sp>
        <p:nvSpPr>
          <p:cNvPr id="13" name="Text 8"/>
          <p:cNvSpPr txBox="1"/>
          <p:nvPr/>
        </p:nvSpPr>
        <p:spPr>
          <a:xfrm>
            <a:off x="3584448" y="2468880"/>
            <a:ext cx="2148840" cy="2011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Claude redacta título, bloques, cifras y conclusión; la app la diseña con temas, foto y logo</a:t>
            </a:r>
            <a:endParaRPr lang="en-US" sz="1400" dirty="0"/>
          </a:p>
        </p:txBody>
      </p:sp>
      <p:sp>
        <p:nvSpPr>
          <p:cNvPr id="14" name="tarjeta Diagrama de flujo"/>
          <p:cNvSpPr/>
          <p:nvPr/>
        </p:nvSpPr>
        <p:spPr>
          <a:xfrm>
            <a:off x="6163056" y="1417320"/>
            <a:ext cx="2606040" cy="320040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5" name="fondo icono Diagrama de flujo"/>
          <p:cNvSpPr/>
          <p:nvPr/>
        </p:nvSpPr>
        <p:spPr>
          <a:xfrm>
            <a:off x="6391656" y="1645920"/>
            <a:ext cx="685800" cy="685800"/>
          </a:xfrm>
          <a:prstGeom prst="roundRect">
            <a:avLst>
              <a:gd name="adj" fmla="val 13333"/>
            </a:avLst>
          </a:prstGeom>
          <a:solidFill>
            <a:schemeClr val="bg1"/>
          </a:solidFill>
          <a:ln w="12700">
            <a:solidFill>
              <a:schemeClr val="bg1"/>
            </a:solidFill>
            <a:prstDash val="solid"/>
          </a:ln>
        </p:spPr>
      </p:sp>
      <p:pic>
        <p:nvPicPr>
          <p:cNvPr id="16" name="icono Diagrama de flujo" descr="C:\Users\Epine\OneDrive\Documentos\XrjEvolution\PasaTimes\Xperiments\Amezzi-Reu-X\docs\fuentes\iconos\bedrock.png">    </p:cNvPr>
          <p:cNvPicPr>
            <a:picLocks noChangeAspect="1"/>
          </p:cNvPicPr>
          <p:nvPr/>
        </p:nvPicPr>
        <p:blipFill>
          <a:blip r:embed="rId3"/>
          <a:stretch>
            <a:fillRect/>
          </a:stretch>
        </p:blipFill>
        <p:spPr>
          <a:xfrm>
            <a:off x="6455664" y="1709928"/>
            <a:ext cx="557784" cy="557784"/>
          </a:xfrm>
          <a:prstGeom prst="rect">
            <a:avLst/>
          </a:prstGeom>
        </p:spPr>
      </p:pic>
      <p:sp>
        <p:nvSpPr>
          <p:cNvPr id="17" name="Text 11"/>
          <p:cNvSpPr txBox="1"/>
          <p:nvPr/>
        </p:nvSpPr>
        <p:spPr>
          <a:xfrm>
            <a:off x="7260336" y="1600200"/>
            <a:ext cx="1325880" cy="457200"/>
          </a:xfrm>
          <a:prstGeom prst="rect">
            <a:avLst/>
          </a:prstGeom>
          <a:noFill/>
          <a:ln/>
        </p:spPr>
        <p:txBody>
          <a:bodyPr wrap="square" lIns="0" tIns="0" rIns="0" bIns="0" rtlCol="0" anchor="ctr"/>
          <a:lstStyle/>
          <a:p>
            <a:pPr indent="0" marL="0">
              <a:buNone/>
            </a:pPr>
            <a:r>
              <a:rPr lang="en-US" sz="1700" b="1" dirty="0">
                <a:solidFill>
                  <a:schemeClr val="tx2"/>
                </a:solidFill>
              </a:rPr>
              <a:t>Diagrama de flujo</a:t>
            </a:r>
            <a:endParaRPr lang="en-US" sz="1700" dirty="0"/>
          </a:p>
        </p:txBody>
      </p:sp>
      <p:sp>
        <p:nvSpPr>
          <p:cNvPr id="18" name="Text 12"/>
          <p:cNvSpPr txBox="1"/>
          <p:nvPr/>
        </p:nvSpPr>
        <p:spPr>
          <a:xfrm>
            <a:off x="6391656" y="2468880"/>
            <a:ext cx="2148840" cy="2011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Claude describe nodos y decisiones; la app genera el código Mermaid</a:t>
            </a:r>
            <a:endParaRPr lang="en-US" sz="1400" dirty="0"/>
          </a:p>
        </p:txBody>
      </p:sp>
      <p:sp>
        <p:nvSpPr>
          <p:cNvPr id="19" name="tarjeta Responsables"/>
          <p:cNvSpPr/>
          <p:nvPr/>
        </p:nvSpPr>
        <p:spPr>
          <a:xfrm>
            <a:off x="8970264" y="1417320"/>
            <a:ext cx="2606040" cy="320040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20" name="fondo icono Responsables"/>
          <p:cNvSpPr/>
          <p:nvPr/>
        </p:nvSpPr>
        <p:spPr>
          <a:xfrm>
            <a:off x="9198864" y="1645920"/>
            <a:ext cx="685800" cy="685800"/>
          </a:xfrm>
          <a:prstGeom prst="roundRect">
            <a:avLst>
              <a:gd name="adj" fmla="val 13333"/>
            </a:avLst>
          </a:prstGeom>
          <a:solidFill>
            <a:schemeClr val="bg1"/>
          </a:solidFill>
          <a:ln w="12700">
            <a:solidFill>
              <a:schemeClr val="bg1"/>
            </a:solidFill>
            <a:prstDash val="solid"/>
          </a:ln>
        </p:spPr>
      </p:sp>
      <p:pic>
        <p:nvPicPr>
          <p:cNvPr id="21" name="icono Responsables" descr="C:\Users\Epine\OneDrive\Documentos\XrjEvolution\PasaTimes\Xperiments\Amezzi-Reu-X\docs\fuentes\iconos\usuarios.png">    </p:cNvPr>
          <p:cNvPicPr>
            <a:picLocks noChangeAspect="1"/>
          </p:cNvPicPr>
          <p:nvPr/>
        </p:nvPicPr>
        <p:blipFill>
          <a:blip r:embed="rId4"/>
          <a:stretch>
            <a:fillRect/>
          </a:stretch>
        </p:blipFill>
        <p:spPr>
          <a:xfrm>
            <a:off x="9262872" y="1709928"/>
            <a:ext cx="557784" cy="557784"/>
          </a:xfrm>
          <a:prstGeom prst="rect">
            <a:avLst/>
          </a:prstGeom>
        </p:spPr>
      </p:pic>
      <p:sp>
        <p:nvSpPr>
          <p:cNvPr id="22" name="Text 15"/>
          <p:cNvSpPr txBox="1"/>
          <p:nvPr/>
        </p:nvSpPr>
        <p:spPr>
          <a:xfrm>
            <a:off x="10067544" y="1600200"/>
            <a:ext cx="1325880" cy="457200"/>
          </a:xfrm>
          <a:prstGeom prst="rect">
            <a:avLst/>
          </a:prstGeom>
          <a:noFill/>
          <a:ln/>
        </p:spPr>
        <p:txBody>
          <a:bodyPr wrap="square" lIns="0" tIns="0" rIns="0" bIns="0" rtlCol="0" anchor="ctr"/>
          <a:lstStyle/>
          <a:p>
            <a:pPr indent="0" marL="0">
              <a:buNone/>
            </a:pPr>
            <a:r>
              <a:rPr lang="en-US" sz="1700" b="1" dirty="0">
                <a:solidFill>
                  <a:schemeClr val="tx2"/>
                </a:solidFill>
              </a:rPr>
              <a:t>Responsables</a:t>
            </a:r>
            <a:endParaRPr lang="en-US" sz="1700" dirty="0"/>
          </a:p>
        </p:txBody>
      </p:sp>
      <p:sp>
        <p:nvSpPr>
          <p:cNvPr id="23" name="Text 16"/>
          <p:cNvSpPr txBox="1"/>
          <p:nvPr/>
        </p:nvSpPr>
        <p:spPr>
          <a:xfrm>
            <a:off x="9198864" y="2468880"/>
            <a:ext cx="2148840" cy="2011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Sin IA: se arma directo de la tabla de tareas de la minuta</a:t>
            </a:r>
            <a:endParaRPr lang="en-US" sz="1400" dirty="0"/>
          </a:p>
        </p:txBody>
      </p:sp>
      <p:sp>
        <p:nvSpPr>
          <p:cNvPr id="24" name="Text 17"/>
          <p:cNvSpPr txBox="1"/>
          <p:nvPr/>
        </p:nvSpPr>
        <p:spPr>
          <a:xfrm>
            <a:off x="548640" y="4937760"/>
            <a:ext cx="11094415" cy="457200"/>
          </a:xfrm>
          <a:prstGeom prst="rect">
            <a:avLst/>
          </a:prstGeom>
          <a:noFill/>
          <a:ln/>
        </p:spPr>
        <p:txBody>
          <a:bodyPr wrap="square" lIns="0" tIns="0" rIns="0" bIns="0" rtlCol="0" anchor="ctr"/>
          <a:lstStyle/>
          <a:p>
            <a:pPr indent="0" marL="0">
              <a:buNone/>
            </a:pPr>
            <a:r>
              <a:rPr lang="en-US" sz="1600" i="1" dirty="0">
                <a:solidFill>
                  <a:schemeClr val="tx2"/>
                </a:solidFill>
              </a:rPr>
              <a:t>Todos se exportan a PNG o SVG, y el último visual generado se incluye en el Word de la minuta.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Tiempos típicos de procesamiento</a:t>
            </a:r>
            <a:endParaRPr lang="en-US" sz="3200" dirty="0"/>
          </a:p>
        </p:txBody>
      </p:sp>
      <p:graphicFrame>
        <p:nvGraphicFramePr>
          <p:cNvPr id="4" name="Chart 0"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955280" y="1554480"/>
            <a:ext cx="365760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 25 min</a:t>
            </a:r>
            <a:endParaRPr lang="en-US" sz="4800" dirty="0"/>
          </a:p>
        </p:txBody>
      </p:sp>
      <p:sp>
        <p:nvSpPr>
          <p:cNvPr id="6" name="Text 2"/>
          <p:cNvSpPr txBox="1"/>
          <p:nvPr/>
        </p:nvSpPr>
        <p:spPr>
          <a:xfrm>
            <a:off x="7955280" y="2468880"/>
            <a:ext cx="3657600" cy="640080"/>
          </a:xfrm>
          <a:prstGeom prst="rect">
            <a:avLst/>
          </a:prstGeom>
          <a:noFill/>
          <a:ln/>
        </p:spPr>
        <p:txBody>
          <a:bodyPr wrap="square" lIns="0" tIns="0" rIns="0" bIns="0" rtlCol="0" anchor="t"/>
          <a:lstStyle/>
          <a:p>
            <a:pPr indent="0" marL="0">
              <a:buNone/>
            </a:pPr>
            <a:r>
              <a:rPr lang="en-US" sz="1400" dirty="0">
                <a:solidFill>
                  <a:schemeClr val="tx1"/>
                </a:solidFill>
              </a:rPr>
              <a:t>de principio a fin para una reunión de una hora (domina la transcripción)</a:t>
            </a:r>
            <a:endParaRPr lang="en-US" sz="1400" dirty="0"/>
          </a:p>
        </p:txBody>
      </p:sp>
      <p:sp>
        <p:nvSpPr>
          <p:cNvPr id="7" name="Text 3"/>
          <p:cNvSpPr txBox="1"/>
          <p:nvPr/>
        </p:nvSpPr>
        <p:spPr>
          <a:xfrm>
            <a:off x="7955280" y="3749040"/>
            <a:ext cx="3657600" cy="91440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&lt; 1 min</a:t>
            </a:r>
            <a:endParaRPr lang="en-US" sz="4800" dirty="0"/>
          </a:p>
        </p:txBody>
      </p:sp>
      <p:sp>
        <p:nvSpPr>
          <p:cNvPr id="8" name="Text 4"/>
          <p:cNvSpPr txBox="1"/>
          <p:nvPr/>
        </p:nvSpPr>
        <p:spPr>
          <a:xfrm>
            <a:off x="7955280" y="4663440"/>
            <a:ext cx="3657600" cy="640080"/>
          </a:xfrm>
          <a:prstGeom prst="rect">
            <a:avLst/>
          </a:prstGeom>
          <a:noFill/>
          <a:ln/>
        </p:spPr>
        <p:txBody>
          <a:bodyPr wrap="square" lIns="0" tIns="0" rIns="0" bIns="0" rtlCol="0" anchor="t"/>
          <a:lstStyle/>
          <a:p>
            <a:pPr indent="0" marL="0">
              <a:buNone/>
            </a:pPr>
            <a:r>
              <a:rPr lang="en-US" sz="1400" dirty="0">
                <a:solidFill>
                  <a:schemeClr val="tx1"/>
                </a:solidFill>
              </a:rPr>
              <a:t>si la reunión llega como texto: solo redacción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Arquitectura por capas</a:t>
            </a:r>
            <a:endParaRPr lang="en-US" sz="3200" dirty="0"/>
          </a:p>
        </p:txBody>
      </p:sp>
      <p:pic>
        <p:nvPicPr>
          <p:cNvPr id="4" name="diagrama capas" descr="C:\Users\Epine\OneDrive\Documentos\XrjEvolution\PasaTimes\Xperiments\Amezzi-Reu-X\docs\Reu-X_Arquitectura_Servicios.png">    </p:cNvPr>
          <p:cNvPicPr>
            <a:picLocks noChangeAspect="1"/>
          </p:cNvPicPr>
          <p:nvPr/>
        </p:nvPicPr>
        <p:blipFill>
          <a:blip r:embed="rId1"/>
          <a:stretch>
            <a:fillRect/>
          </a:stretch>
        </p:blipFill>
        <p:spPr>
          <a:xfrm>
            <a:off x="2396659" y="1188720"/>
            <a:ext cx="7398377" cy="507492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Componentes del navegador y del servidor</a:t>
            </a:r>
            <a:endParaRPr lang="en-US" sz="3200" dirty="0"/>
          </a:p>
        </p:txBody>
      </p:sp>
      <p:pic>
        <p:nvPicPr>
          <p:cNvPr id="4" name="diagrama componentes" descr="C:\Users\Epine\OneDrive\Documentos\XrjEvolution\PasaTimes\Xperiments\Amezzi-Reu-X\docs\Reu-X_Diagrama_Componentes.png">    </p:cNvPr>
          <p:cNvPicPr>
            <a:picLocks noChangeAspect="1"/>
          </p:cNvPicPr>
          <p:nvPr/>
        </p:nvPicPr>
        <p:blipFill>
          <a:blip r:embed="rId1"/>
          <a:stretch>
            <a:fillRect/>
          </a:stretch>
        </p:blipFill>
        <p:spPr>
          <a:xfrm>
            <a:off x="2177238" y="1188720"/>
            <a:ext cx="7837218" cy="507492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Mapa de conexiones</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033976"/>
                <a:gridCol w="2588697"/>
                <a:gridCol w="2403790"/>
                <a:gridCol w="4067952"/>
              </a:tblGrid>
              <a:tr h="0">
                <a:tc>
                  <a:txBody>
                    <a:bodyPr/>
                    <a:lstStyle/>
                    <a:p>
                      <a:pPr indent="0" marL="0">
                        <a:buNone/>
                      </a:pPr>
                      <a:r>
                        <a:rPr lang="en-US" sz="1400" b="1" dirty="0">
                          <a:solidFill>
                            <a:schemeClr val="bg1"/>
                          </a:solidFill>
                        </a:rPr>
                        <a:t>Origen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Destino</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Medio</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Para qué</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r>
              <a:tr h="0">
                <a:tc>
                  <a:txBody>
                    <a:bodyPr/>
                    <a:lstStyle/>
                    <a:p>
                      <a:pPr indent="0" marL="0">
                        <a:buNone/>
                      </a:pPr>
                      <a:r>
                        <a:rPr lang="en-US" sz="1400" dirty="0">
                          <a:solidFill>
                            <a:schemeClr val="tx1"/>
                          </a:solidFill>
                        </a:rPr>
                        <a:t>Navegador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Caddy → App</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HTTPS · JSON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Interfaz, API y sesión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Navegador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Amazon S3</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PUT con URL firmada</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Subir la grabación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App</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Amazon S3</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SDK (rol IAM)</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Firmar URL, leer transcripción, usuarios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App</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Amazon Transcribe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SDK (rol IAM)</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Iniciar y consultar trabajos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Transcribe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Amazon S3</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Interno de AWS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Leer audio y escribir JSON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App</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Amazon Bedrock</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SDK (rol IAM)</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Minuta y visuales con Claude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Servidor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Parameter Store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AWS CLI al iniciar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Credenciales y secreto de sesión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Desarrollador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Systems Manager → EC2</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Run Command</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Publicar versiones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Servidor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GitHub</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git pull (HTTPS)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Descargar el código</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bl>
          </a:graphicData>
        </a:graphic>
      </p:graphicFrame>
      <p:sp>
        <p:nvSpPr>
          <p:cNvPr id="5" name="conclusión"/>
          <p:cNvSpPr/>
          <p:nvPr/>
        </p:nvSpPr>
        <p:spPr>
          <a:xfrm>
            <a:off x="548640" y="5257800"/>
            <a:ext cx="11094415" cy="822960"/>
          </a:xfrm>
          <a:prstGeom prst="roundRect">
            <a:avLst>
              <a:gd name="adj" fmla="val 13333"/>
            </a:avLst>
          </a:prstGeom>
          <a:solidFill>
            <a:schemeClr val="bg2"/>
          </a:solidFill>
          <a:ln w="12700">
            <a:solidFill>
              <a:schemeClr val="bg2"/>
            </a:solidFill>
            <a:prstDash val="solid"/>
          </a:ln>
        </p:spPr>
      </p:sp>
      <p:sp>
        <p:nvSpPr>
          <p:cNvPr id="6" name="Text 2"/>
          <p:cNvSpPr txBox="1"/>
          <p:nvPr/>
        </p:nvSpPr>
        <p:spPr>
          <a:xfrm>
            <a:off x="822960" y="5257800"/>
            <a:ext cx="10545775" cy="822960"/>
          </a:xfrm>
          <a:prstGeom prst="rect">
            <a:avLst/>
          </a:prstGeom>
          <a:noFill/>
          <a:ln/>
        </p:spPr>
        <p:txBody>
          <a:bodyPr wrap="square" lIns="0" tIns="0" rIns="0" bIns="0" rtlCol="0" anchor="ctr"/>
          <a:lstStyle/>
          <a:p>
            <a:pPr indent="0" marL="0">
              <a:buNone/>
            </a:pPr>
            <a:r>
              <a:rPr lang="en-US" sz="1600" i="1" dirty="0">
                <a:solidFill>
                  <a:schemeClr val="tx2"/>
                </a:solidFill>
              </a:rPr>
              <a:t>Ninguna llamada de la app a AWS usa llaves guardadas: todas usan las credenciales temporales del rol IAM de la instancia.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Seguridad y operación</a:t>
            </a:r>
            <a:endParaRPr lang="en-US" sz="4400" dirty="0"/>
          </a:p>
        </p:txBody>
      </p:sp>
      <p:sp>
        <p:nvSpPr>
          <p:cNvPr id="4" name="Text 0"/>
          <p:cNvSpPr/>
          <p:nvPr>
            <p:ph idx="101" type="body" hasCustomPrompt="1"/>
          </p:nvPr>
        </p:nvSpPr>
        <p:spPr>
          <a:xfrm>
            <a:off x="548640" y="3794760"/>
            <a:ext cx="10515600" cy="822960"/>
          </a:xfrm>
          <a:prstGeom prst="rect">
            <a:avLst/>
          </a:prstGeom>
          <a:noFill/>
          <a:ln/>
        </p:spPr>
        <p:txBody>
          <a:bodyPr wrap="square" lIns="0" tIns="0" rIns="0" bIns="0" rtlCol="0" anchor="t"/>
          <a:lstStyle/>
          <a:p>
            <a:pPr indent="0" marL="0">
              <a:buNone/>
            </a:pPr>
            <a:r>
              <a:rPr lang="en-US" sz="2000" dirty="0">
                <a:solidFill>
                  <a:schemeClr val="bg2"/>
                </a:solidFill>
              </a:rPr>
              <a:t>Acceso, permisos, credenciales y publicación</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1F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Seguridad en capas</a:t>
            </a:r>
            <a:endParaRPr lang="en-US" sz="3200" dirty="0"/>
          </a:p>
        </p:txBody>
      </p:sp>
      <p:sp>
        <p:nvSpPr>
          <p:cNvPr id="4" name="tarjeta Transporte"/>
          <p:cNvSpPr/>
          <p:nvPr/>
        </p:nvSpPr>
        <p:spPr>
          <a:xfrm>
            <a:off x="548640" y="137160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5" name="fondo icono Transporte"/>
          <p:cNvSpPr/>
          <p:nvPr/>
        </p:nvSpPr>
        <p:spPr>
          <a:xfrm>
            <a:off x="777240" y="1600200"/>
            <a:ext cx="685800" cy="685800"/>
          </a:xfrm>
          <a:prstGeom prst="roundRect">
            <a:avLst>
              <a:gd name="adj" fmla="val 13333"/>
            </a:avLst>
          </a:prstGeom>
          <a:solidFill>
            <a:schemeClr val="bg1"/>
          </a:solidFill>
          <a:ln w="12700">
            <a:solidFill>
              <a:schemeClr val="bg1"/>
            </a:solidFill>
            <a:prstDash val="solid"/>
          </a:ln>
        </p:spPr>
      </p:sp>
      <p:pic>
        <p:nvPicPr>
          <p:cNvPr id="6" name="icono Transporte" descr="C:\Users\Epine\OneDrive\Documentos\XrjEvolution\PasaTimes\Xperiments\Amezzi-Reu-X\docs\fuentes\iconos\lets-encrypt.png">    </p:cNvPr>
          <p:cNvPicPr>
            <a:picLocks noChangeAspect="1"/>
          </p:cNvPicPr>
          <p:nvPr/>
        </p:nvPicPr>
        <p:blipFill>
          <a:blip r:embed="rId1"/>
          <a:stretch>
            <a:fillRect/>
          </a:stretch>
        </p:blipFill>
        <p:spPr>
          <a:xfrm>
            <a:off x="841248" y="1664208"/>
            <a:ext cx="557784" cy="557784"/>
          </a:xfrm>
          <a:prstGeom prst="rect">
            <a:avLst/>
          </a:prstGeom>
        </p:spPr>
      </p:pic>
      <p:sp>
        <p:nvSpPr>
          <p:cNvPr id="7" name="Text 3"/>
          <p:cNvSpPr txBox="1"/>
          <p:nvPr/>
        </p:nvSpPr>
        <p:spPr>
          <a:xfrm>
            <a:off x="1645920" y="155448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Transporte</a:t>
            </a:r>
            <a:endParaRPr lang="en-US" sz="1700" dirty="0"/>
          </a:p>
        </p:txBody>
      </p:sp>
      <p:sp>
        <p:nvSpPr>
          <p:cNvPr id="8" name="Text 4"/>
          <p:cNvSpPr txBox="1"/>
          <p:nvPr/>
        </p:nvSpPr>
        <p:spPr>
          <a:xfrm>
            <a:off x="777240" y="2423160"/>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HTTPS obligatorio, HSTS y certificados automáticos</a:t>
            </a:r>
            <a:endParaRPr lang="en-US" sz="1400" dirty="0"/>
          </a:p>
        </p:txBody>
      </p:sp>
      <p:sp>
        <p:nvSpPr>
          <p:cNvPr id="9" name="tarjeta Acceso"/>
          <p:cNvSpPr/>
          <p:nvPr/>
        </p:nvSpPr>
        <p:spPr>
          <a:xfrm>
            <a:off x="4297680" y="137160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0" name="fondo icono Acceso"/>
          <p:cNvSpPr/>
          <p:nvPr/>
        </p:nvSpPr>
        <p:spPr>
          <a:xfrm>
            <a:off x="4526280" y="1600200"/>
            <a:ext cx="685800" cy="685800"/>
          </a:xfrm>
          <a:prstGeom prst="roundRect">
            <a:avLst>
              <a:gd name="adj" fmla="val 13333"/>
            </a:avLst>
          </a:prstGeom>
          <a:solidFill>
            <a:schemeClr val="bg1"/>
          </a:solidFill>
          <a:ln w="12700">
            <a:solidFill>
              <a:schemeClr val="bg1"/>
            </a:solidFill>
            <a:prstDash val="solid"/>
          </a:ln>
        </p:spPr>
      </p:sp>
      <p:pic>
        <p:nvPicPr>
          <p:cNvPr id="11" name="icono Acceso" descr="C:\Users\Epine\OneDrive\Documentos\XrjEvolution\PasaTimes\Xperiments\Amezzi-Reu-X\docs\fuentes\iconos\usuarios.png">    </p:cNvPr>
          <p:cNvPicPr>
            <a:picLocks noChangeAspect="1"/>
          </p:cNvPicPr>
          <p:nvPr/>
        </p:nvPicPr>
        <p:blipFill>
          <a:blip r:embed="rId2"/>
          <a:stretch>
            <a:fillRect/>
          </a:stretch>
        </p:blipFill>
        <p:spPr>
          <a:xfrm>
            <a:off x="4590288" y="1664208"/>
            <a:ext cx="557784" cy="557784"/>
          </a:xfrm>
          <a:prstGeom prst="rect">
            <a:avLst/>
          </a:prstGeom>
        </p:spPr>
      </p:pic>
      <p:sp>
        <p:nvSpPr>
          <p:cNvPr id="12" name="Text 7"/>
          <p:cNvSpPr txBox="1"/>
          <p:nvPr/>
        </p:nvSpPr>
        <p:spPr>
          <a:xfrm>
            <a:off x="5394960" y="155448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Acceso</a:t>
            </a:r>
            <a:endParaRPr lang="en-US" sz="1700" dirty="0"/>
          </a:p>
        </p:txBody>
      </p:sp>
      <p:sp>
        <p:nvSpPr>
          <p:cNvPr id="13" name="Text 8"/>
          <p:cNvSpPr txBox="1"/>
          <p:nvPr/>
        </p:nvSpPr>
        <p:spPr>
          <a:xfrm>
            <a:off x="4526280" y="2423160"/>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Inicio de sesión; sesión firmada con HMAC que vence en 12 h</a:t>
            </a:r>
            <a:endParaRPr lang="en-US" sz="1400" dirty="0"/>
          </a:p>
        </p:txBody>
      </p:sp>
      <p:sp>
        <p:nvSpPr>
          <p:cNvPr id="14" name="tarjeta Contraseñas"/>
          <p:cNvSpPr/>
          <p:nvPr/>
        </p:nvSpPr>
        <p:spPr>
          <a:xfrm>
            <a:off x="8046720" y="137160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15" name="fondo icono Contraseñas"/>
          <p:cNvSpPr/>
          <p:nvPr/>
        </p:nvSpPr>
        <p:spPr>
          <a:xfrm>
            <a:off x="8275320" y="1600200"/>
            <a:ext cx="685800" cy="685800"/>
          </a:xfrm>
          <a:prstGeom prst="roundRect">
            <a:avLst>
              <a:gd name="adj" fmla="val 13333"/>
            </a:avLst>
          </a:prstGeom>
          <a:solidFill>
            <a:schemeClr val="bg1"/>
          </a:solidFill>
          <a:ln w="12700">
            <a:solidFill>
              <a:schemeClr val="bg1"/>
            </a:solidFill>
            <a:prstDash val="solid"/>
          </a:ln>
        </p:spPr>
      </p:sp>
      <p:pic>
        <p:nvPicPr>
          <p:cNvPr id="16" name="icono Contraseñas" descr="C:\Users\Epine\OneDrive\Documentos\XrjEvolution\PasaTimes\Xperiments\Amezzi-Reu-X\docs\fuentes\iconos\parameter-store.png">    </p:cNvPr>
          <p:cNvPicPr>
            <a:picLocks noChangeAspect="1"/>
          </p:cNvPicPr>
          <p:nvPr/>
        </p:nvPicPr>
        <p:blipFill>
          <a:blip r:embed="rId3"/>
          <a:stretch>
            <a:fillRect/>
          </a:stretch>
        </p:blipFill>
        <p:spPr>
          <a:xfrm>
            <a:off x="8339328" y="1664208"/>
            <a:ext cx="557784" cy="557784"/>
          </a:xfrm>
          <a:prstGeom prst="rect">
            <a:avLst/>
          </a:prstGeom>
        </p:spPr>
      </p:pic>
      <p:sp>
        <p:nvSpPr>
          <p:cNvPr id="17" name="Text 11"/>
          <p:cNvSpPr txBox="1"/>
          <p:nvPr/>
        </p:nvSpPr>
        <p:spPr>
          <a:xfrm>
            <a:off x="9144000" y="155448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Contraseñas</a:t>
            </a:r>
            <a:endParaRPr lang="en-US" sz="1700" dirty="0"/>
          </a:p>
        </p:txBody>
      </p:sp>
      <p:sp>
        <p:nvSpPr>
          <p:cNvPr id="18" name="Text 12"/>
          <p:cNvSpPr txBox="1"/>
          <p:nvPr/>
        </p:nvSpPr>
        <p:spPr>
          <a:xfrm>
            <a:off x="8275320" y="2423160"/>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scrypt con sal; 8 intentos fallidos bloquean 15 minutos</a:t>
            </a:r>
            <a:endParaRPr lang="en-US" sz="1400" dirty="0"/>
          </a:p>
        </p:txBody>
      </p:sp>
      <p:sp>
        <p:nvSpPr>
          <p:cNvPr id="19" name="tarjeta Perfiles y cuotas"/>
          <p:cNvSpPr/>
          <p:nvPr/>
        </p:nvSpPr>
        <p:spPr>
          <a:xfrm>
            <a:off x="548640" y="379476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20" name="fondo icono Perfiles y cuotas"/>
          <p:cNvSpPr/>
          <p:nvPr/>
        </p:nvSpPr>
        <p:spPr>
          <a:xfrm>
            <a:off x="777240" y="4023360"/>
            <a:ext cx="685800" cy="685800"/>
          </a:xfrm>
          <a:prstGeom prst="roundRect">
            <a:avLst>
              <a:gd name="adj" fmla="val 13333"/>
            </a:avLst>
          </a:prstGeom>
          <a:solidFill>
            <a:schemeClr val="bg1"/>
          </a:solidFill>
          <a:ln w="12700">
            <a:solidFill>
              <a:schemeClr val="bg1"/>
            </a:solidFill>
            <a:prstDash val="solid"/>
          </a:ln>
        </p:spPr>
      </p:sp>
      <p:pic>
        <p:nvPicPr>
          <p:cNvPr id="21" name="icono Perfiles y cuotas" descr="C:\Users\Epine\OneDrive\Documentos\XrjEvolution\PasaTimes\Xperiments\Amezzi-Reu-X\docs\fuentes\iconos\desarrollador.png">    </p:cNvPr>
          <p:cNvPicPr>
            <a:picLocks noChangeAspect="1"/>
          </p:cNvPicPr>
          <p:nvPr/>
        </p:nvPicPr>
        <p:blipFill>
          <a:blip r:embed="rId4"/>
          <a:stretch>
            <a:fillRect/>
          </a:stretch>
        </p:blipFill>
        <p:spPr>
          <a:xfrm>
            <a:off x="841248" y="4087368"/>
            <a:ext cx="557784" cy="557784"/>
          </a:xfrm>
          <a:prstGeom prst="rect">
            <a:avLst/>
          </a:prstGeom>
        </p:spPr>
      </p:pic>
      <p:sp>
        <p:nvSpPr>
          <p:cNvPr id="22" name="Text 15"/>
          <p:cNvSpPr txBox="1"/>
          <p:nvPr/>
        </p:nvSpPr>
        <p:spPr>
          <a:xfrm>
            <a:off x="1645920" y="397764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Perfiles y cuotas</a:t>
            </a:r>
            <a:endParaRPr lang="en-US" sz="1700" dirty="0"/>
          </a:p>
        </p:txBody>
      </p:sp>
      <p:sp>
        <p:nvSpPr>
          <p:cNvPr id="23" name="Text 16"/>
          <p:cNvSpPr txBox="1"/>
          <p:nvPr/>
        </p:nvSpPr>
        <p:spPr>
          <a:xfrm>
            <a:off x="777240" y="4846320"/>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Administración solo para administradores; límites diarios por usuario</a:t>
            </a:r>
            <a:endParaRPr lang="en-US" sz="1400" dirty="0"/>
          </a:p>
        </p:txBody>
      </p:sp>
      <p:sp>
        <p:nvSpPr>
          <p:cNvPr id="24" name="tarjeta Permisos AWS"/>
          <p:cNvSpPr/>
          <p:nvPr/>
        </p:nvSpPr>
        <p:spPr>
          <a:xfrm>
            <a:off x="4297680" y="379476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25" name="fondo icono Permisos AWS"/>
          <p:cNvSpPr/>
          <p:nvPr/>
        </p:nvSpPr>
        <p:spPr>
          <a:xfrm>
            <a:off x="4526280" y="4023360"/>
            <a:ext cx="685800" cy="685800"/>
          </a:xfrm>
          <a:prstGeom prst="roundRect">
            <a:avLst>
              <a:gd name="adj" fmla="val 13333"/>
            </a:avLst>
          </a:prstGeom>
          <a:solidFill>
            <a:schemeClr val="bg1"/>
          </a:solidFill>
          <a:ln w="12700">
            <a:solidFill>
              <a:schemeClr val="bg1"/>
            </a:solidFill>
            <a:prstDash val="solid"/>
          </a:ln>
        </p:spPr>
      </p:sp>
      <p:pic>
        <p:nvPicPr>
          <p:cNvPr id="26" name="icono Permisos AWS" descr="C:\Users\Epine\OneDrive\Documentos\XrjEvolution\PasaTimes\Xperiments\Amezzi-Reu-X\docs\fuentes\iconos\iam.png">    </p:cNvPr>
          <p:cNvPicPr>
            <a:picLocks noChangeAspect="1"/>
          </p:cNvPicPr>
          <p:nvPr/>
        </p:nvPicPr>
        <p:blipFill>
          <a:blip r:embed="rId5"/>
          <a:stretch>
            <a:fillRect/>
          </a:stretch>
        </p:blipFill>
        <p:spPr>
          <a:xfrm>
            <a:off x="4590288" y="4087368"/>
            <a:ext cx="557784" cy="557784"/>
          </a:xfrm>
          <a:prstGeom prst="rect">
            <a:avLst/>
          </a:prstGeom>
        </p:spPr>
      </p:pic>
      <p:sp>
        <p:nvSpPr>
          <p:cNvPr id="27" name="Text 19"/>
          <p:cNvSpPr txBox="1"/>
          <p:nvPr/>
        </p:nvSpPr>
        <p:spPr>
          <a:xfrm>
            <a:off x="5394960" y="397764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Permisos AWS</a:t>
            </a:r>
            <a:endParaRPr lang="en-US" sz="1700" dirty="0"/>
          </a:p>
        </p:txBody>
      </p:sp>
      <p:sp>
        <p:nvSpPr>
          <p:cNvPr id="28" name="Text 20"/>
          <p:cNvSpPr txBox="1"/>
          <p:nvPr/>
        </p:nvSpPr>
        <p:spPr>
          <a:xfrm>
            <a:off x="4526280" y="4846320"/>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Rol IAM mínimo, sin llaves guardadas en el servidor</a:t>
            </a:r>
            <a:endParaRPr lang="en-US" sz="1400" dirty="0"/>
          </a:p>
        </p:txBody>
      </p:sp>
      <p:sp>
        <p:nvSpPr>
          <p:cNvPr id="29" name="tarjeta Datos"/>
          <p:cNvSpPr/>
          <p:nvPr/>
        </p:nvSpPr>
        <p:spPr>
          <a:xfrm>
            <a:off x="8046720" y="379476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1B2A41">
                <a:alpha val="12000"/>
              </a:srgbClr>
            </a:outerShdw>
          </a:effectLst>
        </p:spPr>
      </p:sp>
      <p:sp>
        <p:nvSpPr>
          <p:cNvPr id="30" name="fondo icono Datos"/>
          <p:cNvSpPr/>
          <p:nvPr/>
        </p:nvSpPr>
        <p:spPr>
          <a:xfrm>
            <a:off x="8275320" y="4023360"/>
            <a:ext cx="685800" cy="685800"/>
          </a:xfrm>
          <a:prstGeom prst="roundRect">
            <a:avLst>
              <a:gd name="adj" fmla="val 13333"/>
            </a:avLst>
          </a:prstGeom>
          <a:solidFill>
            <a:schemeClr val="bg1"/>
          </a:solidFill>
          <a:ln w="12700">
            <a:solidFill>
              <a:schemeClr val="bg1"/>
            </a:solidFill>
            <a:prstDash val="solid"/>
          </a:ln>
        </p:spPr>
      </p:sp>
      <p:pic>
        <p:nvPicPr>
          <p:cNvPr id="31" name="icono Datos" descr="C:\Users\Epine\OneDrive\Documentos\XrjEvolution\PasaTimes\Xperiments\Amezzi-Reu-X\docs\fuentes\iconos\s3.png">    </p:cNvPr>
          <p:cNvPicPr>
            <a:picLocks noChangeAspect="1"/>
          </p:cNvPicPr>
          <p:nvPr/>
        </p:nvPicPr>
        <p:blipFill>
          <a:blip r:embed="rId6"/>
          <a:stretch>
            <a:fillRect/>
          </a:stretch>
        </p:blipFill>
        <p:spPr>
          <a:xfrm>
            <a:off x="8339328" y="4087368"/>
            <a:ext cx="557784" cy="557784"/>
          </a:xfrm>
          <a:prstGeom prst="rect">
            <a:avLst/>
          </a:prstGeom>
        </p:spPr>
      </p:pic>
      <p:sp>
        <p:nvSpPr>
          <p:cNvPr id="32" name="Text 23"/>
          <p:cNvSpPr txBox="1"/>
          <p:nvPr/>
        </p:nvSpPr>
        <p:spPr>
          <a:xfrm>
            <a:off x="9144000" y="3977640"/>
            <a:ext cx="2240280" cy="457200"/>
          </a:xfrm>
          <a:prstGeom prst="rect">
            <a:avLst/>
          </a:prstGeom>
          <a:noFill/>
          <a:ln/>
        </p:spPr>
        <p:txBody>
          <a:bodyPr wrap="square" lIns="0" tIns="0" rIns="0" bIns="0" rtlCol="0" anchor="ctr"/>
          <a:lstStyle/>
          <a:p>
            <a:pPr indent="0" marL="0">
              <a:buNone/>
            </a:pPr>
            <a:r>
              <a:rPr lang="en-US" sz="1700" b="1" dirty="0">
                <a:solidFill>
                  <a:schemeClr val="tx2"/>
                </a:solidFill>
              </a:rPr>
              <a:t>Datos</a:t>
            </a:r>
            <a:endParaRPr lang="en-US" sz="1700" dirty="0"/>
          </a:p>
        </p:txBody>
      </p:sp>
      <p:sp>
        <p:nvSpPr>
          <p:cNvPr id="33" name="Text 24"/>
          <p:cNvSpPr txBox="1"/>
          <p:nvPr/>
        </p:nvSpPr>
        <p:spPr>
          <a:xfrm>
            <a:off x="8275320" y="4846320"/>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S3 privado y cifrado; grabaciones borradas a los 7 días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Usuarios, perfiles y cuotas</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698752"/>
                <a:gridCol w="2625344"/>
                <a:gridCol w="2625344"/>
              </a:tblGrid>
              <a:tr h="0">
                <a:tc>
                  <a:txBody>
                    <a:bodyPr/>
                    <a:lstStyle/>
                    <a:p>
                      <a:pPr indent="0" marL="0">
                        <a:buNone/>
                      </a:pPr>
                      <a:r>
                        <a:rPr lang="en-US" sz="1400" b="1" dirty="0">
                          <a:solidFill>
                            <a:schemeClr val="bg1"/>
                          </a:solidFill>
                        </a:rPr>
                        <a:t>Perfil</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Puede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Límites por defecto</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r>
              <a:tr h="0">
                <a:tc>
                  <a:txBody>
                    <a:bodyPr/>
                    <a:lstStyle/>
                    <a:p>
                      <a:pPr indent="0" marL="0">
                        <a:buNone/>
                      </a:pPr>
                      <a:r>
                        <a:rPr lang="en-US" sz="1400" dirty="0">
                          <a:solidFill>
                            <a:schemeClr val="tx1"/>
                          </a:solidFill>
                        </a:rPr>
                        <a:t>Administrador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Todo, incluida la pantalla Usuarios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Sin límite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Usuario</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Minutas, visuales y exportación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Sin límite (configurable)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Participante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Igual que Usuario; cuentas compartidas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 minutas al día y archivos de hasta 300 MB</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3657600"/>
            <a:ext cx="329184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20 / día</a:t>
            </a:r>
            <a:endParaRPr lang="en-US" sz="4800" dirty="0"/>
          </a:p>
        </p:txBody>
      </p:sp>
      <p:sp>
        <p:nvSpPr>
          <p:cNvPr id="6" name="Text 2"/>
          <p:cNvSpPr txBox="1"/>
          <p:nvPr/>
        </p:nvSpPr>
        <p:spPr>
          <a:xfrm>
            <a:off x="548640" y="4572000"/>
            <a:ext cx="3291840" cy="640080"/>
          </a:xfrm>
          <a:prstGeom prst="rect">
            <a:avLst/>
          </a:prstGeom>
          <a:noFill/>
          <a:ln/>
        </p:spPr>
        <p:txBody>
          <a:bodyPr wrap="square" lIns="0" tIns="0" rIns="0" bIns="0" rtlCol="0" anchor="t"/>
          <a:lstStyle/>
          <a:p>
            <a:pPr indent="0" marL="0">
              <a:buNone/>
            </a:pPr>
            <a:r>
              <a:rPr lang="en-US" sz="1400" dirty="0">
                <a:solidFill>
                  <a:schemeClr val="tx1"/>
                </a:solidFill>
              </a:rPr>
              <a:t>minutas permitidas por defecto al perfil Participante</a:t>
            </a:r>
            <a:endParaRPr lang="en-US" sz="1400" dirty="0"/>
          </a:p>
        </p:txBody>
      </p:sp>
      <p:sp>
        <p:nvSpPr>
          <p:cNvPr id="7" name="Text 3"/>
          <p:cNvSpPr txBox="1"/>
          <p:nvPr/>
        </p:nvSpPr>
        <p:spPr>
          <a:xfrm>
            <a:off x="4069080" y="3657600"/>
            <a:ext cx="3291840" cy="914400"/>
          </a:xfrm>
          <a:prstGeom prst="rect">
            <a:avLst/>
          </a:prstGeom>
          <a:noFill/>
          <a:ln/>
        </p:spPr>
        <p:txBody>
          <a:bodyPr wrap="square" lIns="0" tIns="0" rIns="0" bIns="0" rtlCol="0" anchor="ctr"/>
          <a:lstStyle/>
          <a:p>
            <a:pPr indent="0" marL="0">
              <a:buNone/>
            </a:pPr>
            <a:r>
              <a:rPr lang="en-US" sz="4800" b="1" dirty="0">
                <a:solidFill>
                  <a:schemeClr val="accent5"/>
                </a:solidFill>
                <a:latin typeface="Cambria" pitchFamily="34" charset="0"/>
                <a:ea typeface="Cambria" pitchFamily="34" charset="-122"/>
                <a:cs typeface="Cambria" pitchFamily="34" charset="-120"/>
              </a:rPr>
              <a:t>300 MB</a:t>
            </a:r>
            <a:endParaRPr lang="en-US" sz="4800" dirty="0"/>
          </a:p>
        </p:txBody>
      </p:sp>
      <p:sp>
        <p:nvSpPr>
          <p:cNvPr id="8" name="Text 4"/>
          <p:cNvSpPr txBox="1"/>
          <p:nvPr/>
        </p:nvSpPr>
        <p:spPr>
          <a:xfrm>
            <a:off x="4069080" y="4572000"/>
            <a:ext cx="3291840" cy="640080"/>
          </a:xfrm>
          <a:prstGeom prst="rect">
            <a:avLst/>
          </a:prstGeom>
          <a:noFill/>
          <a:ln/>
        </p:spPr>
        <p:txBody>
          <a:bodyPr wrap="square" lIns="0" tIns="0" rIns="0" bIns="0" rtlCol="0" anchor="t"/>
          <a:lstStyle/>
          <a:p>
            <a:pPr indent="0" marL="0">
              <a:buNone/>
            </a:pPr>
            <a:r>
              <a:rPr lang="en-US" sz="1400" dirty="0">
                <a:solidFill>
                  <a:schemeClr val="tx1"/>
                </a:solidFill>
              </a:rPr>
              <a:t>tamaño máximo de archivo del Participante</a:t>
            </a:r>
            <a:endParaRPr lang="en-US" sz="1400" dirty="0"/>
          </a:p>
        </p:txBody>
      </p:sp>
      <p:sp>
        <p:nvSpPr>
          <p:cNvPr id="9" name="panel almacenamiento usuarios"/>
          <p:cNvSpPr/>
          <p:nvPr/>
        </p:nvSpPr>
        <p:spPr>
          <a:xfrm>
            <a:off x="7818120" y="1371600"/>
            <a:ext cx="3822192" cy="4663440"/>
          </a:xfrm>
          <a:prstGeom prst="roundRect">
            <a:avLst>
              <a:gd name="adj" fmla="val 2871"/>
            </a:avLst>
          </a:prstGeom>
          <a:solidFill>
            <a:schemeClr val="bg2"/>
          </a:solidFill>
          <a:ln w="12700">
            <a:solidFill>
              <a:schemeClr val="bg2"/>
            </a:solidFill>
            <a:prstDash val="solid"/>
          </a:ln>
        </p:spPr>
      </p:sp>
      <p:pic>
        <p:nvPicPr>
          <p:cNvPr id="10" name="icono s3 usuarios" descr="C:\Users\Epine\OneDrive\Documentos\XrjEvolution\PasaTimes\Xperiments\Amezzi-Reu-X\docs\fuentes\iconos\s3.png">    </p:cNvPr>
          <p:cNvPicPr>
            <a:picLocks noChangeAspect="1"/>
          </p:cNvPicPr>
          <p:nvPr/>
        </p:nvPicPr>
        <p:blipFill>
          <a:blip r:embed="rId1"/>
          <a:stretch>
            <a:fillRect/>
          </a:stretch>
        </p:blipFill>
        <p:spPr>
          <a:xfrm>
            <a:off x="8046720" y="1554480"/>
            <a:ext cx="731520" cy="731520"/>
          </a:xfrm>
          <a:prstGeom prst="rect">
            <a:avLst/>
          </a:prstGeom>
        </p:spPr>
      </p:pic>
      <p:sp>
        <p:nvSpPr>
          <p:cNvPr id="11" name="Text 6"/>
          <p:cNvSpPr txBox="1"/>
          <p:nvPr/>
        </p:nvSpPr>
        <p:spPr>
          <a:xfrm>
            <a:off x="8915400" y="1645920"/>
            <a:ext cx="2651760" cy="548640"/>
          </a:xfrm>
          <a:prstGeom prst="rect">
            <a:avLst/>
          </a:prstGeom>
          <a:noFill/>
          <a:ln/>
        </p:spPr>
        <p:txBody>
          <a:bodyPr wrap="square" lIns="0" tIns="0" rIns="0" bIns="0" rtlCol="0" anchor="ctr"/>
          <a:lstStyle/>
          <a:p>
            <a:pPr indent="0" marL="0">
              <a:buNone/>
            </a:pPr>
            <a:r>
              <a:rPr lang="en-US" sz="1600" b="1" dirty="0">
                <a:solidFill>
                  <a:schemeClr val="accent2"/>
                </a:solidFill>
              </a:rPr>
              <a:t>Dónde se guardan</a:t>
            </a:r>
            <a:endParaRPr lang="en-US" sz="1600" dirty="0"/>
          </a:p>
        </p:txBody>
      </p:sp>
      <p:sp>
        <p:nvSpPr>
          <p:cNvPr id="12" name="Text 7"/>
          <p:cNvSpPr txBox="1"/>
          <p:nvPr/>
        </p:nvSpPr>
        <p:spPr>
          <a:xfrm>
            <a:off x="8046720" y="2514600"/>
            <a:ext cx="3429000" cy="3383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config/usuarios.json en S3, cifrado</a:t>
            </a:r>
            <a:endParaRPr lang="en-US" sz="1400" dirty="0"/>
          </a:p>
          <a:p>
            <a:pPr marL="342900" indent="-342900">
              <a:spcAft>
                <a:spcPts val="800"/>
              </a:spcAft>
              <a:buSzPct val="100000"/>
              <a:buChar char="•"/>
            </a:pPr>
            <a:r>
              <a:rPr lang="en-US" sz="1400" dirty="0">
                <a:solidFill>
                  <a:schemeClr val="tx1"/>
                </a:solidFill>
              </a:rPr>
              <a:t>Contraseñas con scrypt, nunca en texto plano</a:t>
            </a:r>
            <a:endParaRPr lang="en-US" sz="1400" dirty="0"/>
          </a:p>
          <a:p>
            <a:pPr marL="342900" indent="-342900">
              <a:spcAft>
                <a:spcPts val="800"/>
              </a:spcAft>
              <a:buSzPct val="100000"/>
              <a:buChar char="•"/>
            </a:pPr>
            <a:r>
              <a:rPr lang="en-US" sz="1400" dirty="0">
                <a:solidFill>
                  <a:schemeClr val="tx1"/>
                </a:solidFill>
              </a:rPr>
              <a:t>Escrituras con If-Match: dos cambios simultáneos no se pisan</a:t>
            </a:r>
            <a:endParaRPr lang="en-US" sz="1400" dirty="0"/>
          </a:p>
          <a:p>
            <a:pPr marL="342900" indent="-342900">
              <a:spcAft>
                <a:spcPts val="800"/>
              </a:spcAft>
              <a:buSzPct val="100000"/>
              <a:buChar char="•"/>
            </a:pPr>
            <a:r>
              <a:rPr lang="en-US" sz="1400" dirty="0">
                <a:solidFill>
                  <a:schemeClr val="tx1"/>
                </a:solidFill>
              </a:rPr>
              <a:t>El administrador principal vive en Parameter Store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Credenciales: quién accede a qué</a:t>
            </a:r>
            <a:endParaRPr lang="en-US" sz="3200" dirty="0"/>
          </a:p>
        </p:txBody>
      </p:sp>
      <p:sp>
        <p:nvSpPr>
          <p:cNvPr id="4" name="paso 1"/>
          <p:cNvSpPr/>
          <p:nvPr/>
        </p:nvSpPr>
        <p:spPr>
          <a:xfrm>
            <a:off x="548640" y="1463040"/>
            <a:ext cx="2533574" cy="2103120"/>
          </a:xfrm>
          <a:prstGeom prst="roundRect">
            <a:avLst>
              <a:gd name="adj" fmla="val 4348"/>
            </a:avLst>
          </a:prstGeom>
          <a:solidFill>
            <a:schemeClr val="bg2"/>
          </a:solidFill>
          <a:ln w="15875">
            <a:solidFill>
              <a:schemeClr val="accent1"/>
            </a:solidFill>
            <a:prstDash val="solid"/>
          </a:ln>
        </p:spPr>
      </p:sp>
      <p:sp>
        <p:nvSpPr>
          <p:cNvPr id="5" name="Text 2"/>
          <p:cNvSpPr txBox="1"/>
          <p:nvPr/>
        </p:nvSpPr>
        <p:spPr>
          <a:xfrm>
            <a:off x="685800"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685800"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Rol IAM</a:t>
            </a:r>
            <a:endParaRPr lang="en-US" sz="1500" dirty="0"/>
          </a:p>
        </p:txBody>
      </p:sp>
      <p:sp>
        <p:nvSpPr>
          <p:cNvPr id="7" name="Text 4"/>
          <p:cNvSpPr txBox="1"/>
          <p:nvPr/>
        </p:nvSpPr>
        <p:spPr>
          <a:xfrm>
            <a:off x="685800" y="2423160"/>
            <a:ext cx="2259254" cy="1051560"/>
          </a:xfrm>
          <a:prstGeom prst="rect">
            <a:avLst/>
          </a:prstGeom>
          <a:noFill/>
          <a:ln/>
        </p:spPr>
        <p:txBody>
          <a:bodyPr wrap="square" lIns="0" tIns="0" rIns="0" bIns="0" rtlCol="0" anchor="t"/>
          <a:lstStyle/>
          <a:p>
            <a:pPr indent="0" marL="0">
              <a:buNone/>
            </a:pPr>
            <a:r>
              <a:rPr lang="en-US" sz="1300" dirty="0">
                <a:solidFill>
                  <a:schemeClr val="tx1"/>
                </a:solidFill>
              </a:rPr>
              <a:t>La instancia EC2 recibe credenciales temporales que se renuevan solas</a:t>
            </a:r>
            <a:endParaRPr lang="en-US" sz="1300" dirty="0"/>
          </a:p>
        </p:txBody>
      </p:sp>
      <p:sp>
        <p:nvSpPr>
          <p:cNvPr id="8" name="flecha 1"/>
          <p:cNvSpPr/>
          <p:nvPr/>
        </p:nvSpPr>
        <p:spPr>
          <a:xfrm>
            <a:off x="3127934" y="2395728"/>
            <a:ext cx="237744" cy="237744"/>
          </a:xfrm>
          <a:prstGeom prst="rightArrow">
            <a:avLst/>
          </a:prstGeom>
          <a:solidFill>
            <a:schemeClr val="accent2"/>
          </a:solidFill>
          <a:ln w="12700">
            <a:solidFill>
              <a:schemeClr val="accent2"/>
            </a:solidFill>
            <a:prstDash val="solid"/>
          </a:ln>
        </p:spPr>
      </p:sp>
      <p:sp>
        <p:nvSpPr>
          <p:cNvPr id="9" name="paso 2"/>
          <p:cNvSpPr/>
          <p:nvPr/>
        </p:nvSpPr>
        <p:spPr>
          <a:xfrm>
            <a:off x="3402254" y="1463040"/>
            <a:ext cx="2533574" cy="2103120"/>
          </a:xfrm>
          <a:prstGeom prst="roundRect">
            <a:avLst>
              <a:gd name="adj" fmla="val 4348"/>
            </a:avLst>
          </a:prstGeom>
          <a:solidFill>
            <a:schemeClr val="bg2"/>
          </a:solidFill>
          <a:ln w="15875">
            <a:solidFill>
              <a:schemeClr val="accent1"/>
            </a:solidFill>
            <a:prstDash val="solid"/>
          </a:ln>
        </p:spPr>
      </p:sp>
      <p:sp>
        <p:nvSpPr>
          <p:cNvPr id="10" name="Text 7"/>
          <p:cNvSpPr txBox="1"/>
          <p:nvPr/>
        </p:nvSpPr>
        <p:spPr>
          <a:xfrm>
            <a:off x="3539414"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539414"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reux-entorno</a:t>
            </a:r>
            <a:endParaRPr lang="en-US" sz="1500" dirty="0"/>
          </a:p>
        </p:txBody>
      </p:sp>
      <p:sp>
        <p:nvSpPr>
          <p:cNvPr id="12" name="Text 9"/>
          <p:cNvSpPr txBox="1"/>
          <p:nvPr/>
        </p:nvSpPr>
        <p:spPr>
          <a:xfrm>
            <a:off x="3539414" y="2423160"/>
            <a:ext cx="2259254" cy="1051560"/>
          </a:xfrm>
          <a:prstGeom prst="rect">
            <a:avLst/>
          </a:prstGeom>
          <a:noFill/>
          <a:ln/>
        </p:spPr>
        <p:txBody>
          <a:bodyPr wrap="square" lIns="0" tIns="0" rIns="0" bIns="0" rtlCol="0" anchor="t"/>
          <a:lstStyle/>
          <a:p>
            <a:pPr indent="0" marL="0">
              <a:buNone/>
            </a:pPr>
            <a:r>
              <a:rPr lang="en-US" sz="1300" dirty="0">
                <a:solidFill>
                  <a:schemeClr val="tx1"/>
                </a:solidFill>
              </a:rPr>
              <a:t>Al arrancar, lee /reux/usuario, /reux/clave y /reux/secreto de Parameter Store</a:t>
            </a:r>
            <a:endParaRPr lang="en-US" sz="1300" dirty="0"/>
          </a:p>
        </p:txBody>
      </p:sp>
      <p:sp>
        <p:nvSpPr>
          <p:cNvPr id="13" name="flecha 2"/>
          <p:cNvSpPr/>
          <p:nvPr/>
        </p:nvSpPr>
        <p:spPr>
          <a:xfrm>
            <a:off x="5981548" y="2395728"/>
            <a:ext cx="237744" cy="237744"/>
          </a:xfrm>
          <a:prstGeom prst="rightArrow">
            <a:avLst/>
          </a:prstGeom>
          <a:solidFill>
            <a:schemeClr val="accent2"/>
          </a:solidFill>
          <a:ln w="12700">
            <a:solidFill>
              <a:schemeClr val="accent2"/>
            </a:solidFill>
            <a:prstDash val="solid"/>
          </a:ln>
        </p:spPr>
      </p:sp>
      <p:sp>
        <p:nvSpPr>
          <p:cNvPr id="14" name="paso 3"/>
          <p:cNvSpPr/>
          <p:nvPr/>
        </p:nvSpPr>
        <p:spPr>
          <a:xfrm>
            <a:off x="6255868" y="1463040"/>
            <a:ext cx="2533574" cy="2103120"/>
          </a:xfrm>
          <a:prstGeom prst="roundRect">
            <a:avLst>
              <a:gd name="adj" fmla="val 4348"/>
            </a:avLst>
          </a:prstGeom>
          <a:solidFill>
            <a:schemeClr val="bg2"/>
          </a:solidFill>
          <a:ln w="15875">
            <a:solidFill>
              <a:schemeClr val="accent1"/>
            </a:solidFill>
            <a:prstDash val="solid"/>
          </a:ln>
        </p:spPr>
      </p:sp>
      <p:sp>
        <p:nvSpPr>
          <p:cNvPr id="15" name="Text 12"/>
          <p:cNvSpPr txBox="1"/>
          <p:nvPr/>
        </p:nvSpPr>
        <p:spPr>
          <a:xfrm>
            <a:off x="6393028"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6393028"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/etc/reux/reux.env</a:t>
            </a:r>
            <a:endParaRPr lang="en-US" sz="1500" dirty="0"/>
          </a:p>
        </p:txBody>
      </p:sp>
      <p:sp>
        <p:nvSpPr>
          <p:cNvPr id="17" name="Text 14"/>
          <p:cNvSpPr txBox="1"/>
          <p:nvPr/>
        </p:nvSpPr>
        <p:spPr>
          <a:xfrm>
            <a:off x="6393028" y="2423160"/>
            <a:ext cx="2259254" cy="1051560"/>
          </a:xfrm>
          <a:prstGeom prst="rect">
            <a:avLst/>
          </a:prstGeom>
          <a:noFill/>
          <a:ln/>
        </p:spPr>
        <p:txBody>
          <a:bodyPr wrap="square" lIns="0" tIns="0" rIns="0" bIns="0" rtlCol="0" anchor="t"/>
          <a:lstStyle/>
          <a:p>
            <a:pPr indent="0" marL="0">
              <a:buNone/>
            </a:pPr>
            <a:r>
              <a:rPr lang="en-US" sz="1300" dirty="0">
                <a:solidFill>
                  <a:schemeClr val="tx1"/>
                </a:solidFill>
              </a:rPr>
              <a:t>Variables de entorno accesibles solo para root y el servicio</a:t>
            </a:r>
            <a:endParaRPr lang="en-US" sz="1300" dirty="0"/>
          </a:p>
        </p:txBody>
      </p:sp>
      <p:sp>
        <p:nvSpPr>
          <p:cNvPr id="18" name="flecha 3"/>
          <p:cNvSpPr/>
          <p:nvPr/>
        </p:nvSpPr>
        <p:spPr>
          <a:xfrm>
            <a:off x="8835161" y="2395728"/>
            <a:ext cx="237744" cy="237744"/>
          </a:xfrm>
          <a:prstGeom prst="rightArrow">
            <a:avLst/>
          </a:prstGeom>
          <a:solidFill>
            <a:schemeClr val="accent2"/>
          </a:solidFill>
          <a:ln w="12700">
            <a:solidFill>
              <a:schemeClr val="accent2"/>
            </a:solidFill>
            <a:prstDash val="solid"/>
          </a:ln>
        </p:spPr>
      </p:sp>
      <p:sp>
        <p:nvSpPr>
          <p:cNvPr id="19" name="paso 4"/>
          <p:cNvSpPr/>
          <p:nvPr/>
        </p:nvSpPr>
        <p:spPr>
          <a:xfrm>
            <a:off x="9109481" y="1463040"/>
            <a:ext cx="2533574" cy="2103120"/>
          </a:xfrm>
          <a:prstGeom prst="roundRect">
            <a:avLst>
              <a:gd name="adj" fmla="val 4348"/>
            </a:avLst>
          </a:prstGeom>
          <a:solidFill>
            <a:schemeClr val="bg2"/>
          </a:solidFill>
          <a:ln w="15875">
            <a:solidFill>
              <a:schemeClr val="accent1"/>
            </a:solidFill>
            <a:prstDash val="solid"/>
          </a:ln>
        </p:spPr>
      </p:sp>
      <p:sp>
        <p:nvSpPr>
          <p:cNvPr id="20" name="Text 17"/>
          <p:cNvSpPr txBox="1"/>
          <p:nvPr/>
        </p:nvSpPr>
        <p:spPr>
          <a:xfrm>
            <a:off x="9246641"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9246641"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Aplicación</a:t>
            </a:r>
            <a:endParaRPr lang="en-US" sz="1500" dirty="0"/>
          </a:p>
        </p:txBody>
      </p:sp>
      <p:sp>
        <p:nvSpPr>
          <p:cNvPr id="22" name="Text 19"/>
          <p:cNvSpPr txBox="1"/>
          <p:nvPr/>
        </p:nvSpPr>
        <p:spPr>
          <a:xfrm>
            <a:off x="9246641" y="2423160"/>
            <a:ext cx="2259254" cy="1051560"/>
          </a:xfrm>
          <a:prstGeom prst="rect">
            <a:avLst/>
          </a:prstGeom>
          <a:noFill/>
          <a:ln/>
        </p:spPr>
        <p:txBody>
          <a:bodyPr wrap="square" lIns="0" tIns="0" rIns="0" bIns="0" rtlCol="0" anchor="t"/>
          <a:lstStyle/>
          <a:p>
            <a:pPr indent="0" marL="0">
              <a:buNone/>
            </a:pPr>
            <a:r>
              <a:rPr lang="en-US" sz="1300" dirty="0">
                <a:solidFill>
                  <a:schemeClr val="tx1"/>
                </a:solidFill>
              </a:rPr>
              <a:t>Usa el SDK de AWS con el rol y valida sesiones con el secreto</a:t>
            </a:r>
            <a:endParaRPr lang="en-US" sz="1300" dirty="0"/>
          </a:p>
        </p:txBody>
      </p:sp>
      <p:sp>
        <p:nvSpPr>
          <p:cNvPr id="23" name="Text 20"/>
          <p:cNvSpPr txBox="1"/>
          <p:nvPr/>
        </p:nvSpPr>
        <p:spPr>
          <a:xfrm>
            <a:off x="548640" y="4114800"/>
            <a:ext cx="11094415" cy="822960"/>
          </a:xfrm>
          <a:prstGeom prst="rect">
            <a:avLst/>
          </a:prstGeom>
          <a:noFill/>
          <a:ln/>
        </p:spPr>
        <p:txBody>
          <a:bodyPr wrap="square" lIns="0" tIns="0" rIns="0" bIns="0" rtlCol="0" anchor="ctr"/>
          <a:lstStyle/>
          <a:p>
            <a:pPr indent="0" marL="0">
              <a:buNone/>
            </a:pPr>
            <a:r>
              <a:rPr lang="en-US" sz="1600" i="1" dirty="0">
                <a:solidFill>
                  <a:schemeClr val="tx2"/>
                </a:solidFill>
              </a:rPr>
              <a:t>En la computadora del desarrollador se usa aws login --profile reux: credenciales temporales que hay que renovar; el servidor no depende de ellas.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Publicar una nueva versión</a:t>
            </a:r>
            <a:endParaRPr lang="en-US" sz="3200" dirty="0"/>
          </a:p>
        </p:txBody>
      </p:sp>
      <p:sp>
        <p:nvSpPr>
          <p:cNvPr id="4" name="paso 1"/>
          <p:cNvSpPr/>
          <p:nvPr/>
        </p:nvSpPr>
        <p:spPr>
          <a:xfrm>
            <a:off x="548640" y="1463040"/>
            <a:ext cx="2533574" cy="2011680"/>
          </a:xfrm>
          <a:prstGeom prst="roundRect">
            <a:avLst>
              <a:gd name="adj" fmla="val 4545"/>
            </a:avLst>
          </a:prstGeom>
          <a:solidFill>
            <a:schemeClr val="bg2"/>
          </a:solidFill>
          <a:ln w="15875">
            <a:solidFill>
              <a:schemeClr val="accent1"/>
            </a:solidFill>
            <a:prstDash val="solid"/>
          </a:ln>
        </p:spPr>
      </p:sp>
      <p:sp>
        <p:nvSpPr>
          <p:cNvPr id="5" name="Text 2"/>
          <p:cNvSpPr txBox="1"/>
          <p:nvPr/>
        </p:nvSpPr>
        <p:spPr>
          <a:xfrm>
            <a:off x="685800"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685800"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git push</a:t>
            </a:r>
            <a:endParaRPr lang="en-US" sz="1500" dirty="0"/>
          </a:p>
        </p:txBody>
      </p:sp>
      <p:sp>
        <p:nvSpPr>
          <p:cNvPr id="7" name="Text 4"/>
          <p:cNvSpPr txBox="1"/>
          <p:nvPr/>
        </p:nvSpPr>
        <p:spPr>
          <a:xfrm>
            <a:off x="685800" y="2423160"/>
            <a:ext cx="2259254" cy="960120"/>
          </a:xfrm>
          <a:prstGeom prst="rect">
            <a:avLst/>
          </a:prstGeom>
          <a:noFill/>
          <a:ln/>
        </p:spPr>
        <p:txBody>
          <a:bodyPr wrap="square" lIns="0" tIns="0" rIns="0" bIns="0" rtlCol="0" anchor="t"/>
          <a:lstStyle/>
          <a:p>
            <a:pPr indent="0" marL="0">
              <a:buNone/>
            </a:pPr>
            <a:r>
              <a:rPr lang="en-US" sz="1300" dirty="0">
                <a:solidFill>
                  <a:schemeClr val="tx1"/>
                </a:solidFill>
              </a:rPr>
              <a:t>El cambio se sube a la rama main en GitHub</a:t>
            </a:r>
            <a:endParaRPr lang="en-US" sz="1300" dirty="0"/>
          </a:p>
        </p:txBody>
      </p:sp>
      <p:sp>
        <p:nvSpPr>
          <p:cNvPr id="8" name="flecha 1"/>
          <p:cNvSpPr/>
          <p:nvPr/>
        </p:nvSpPr>
        <p:spPr>
          <a:xfrm>
            <a:off x="3127934" y="2350008"/>
            <a:ext cx="237744" cy="237744"/>
          </a:xfrm>
          <a:prstGeom prst="rightArrow">
            <a:avLst/>
          </a:prstGeom>
          <a:solidFill>
            <a:schemeClr val="accent2"/>
          </a:solidFill>
          <a:ln w="12700">
            <a:solidFill>
              <a:schemeClr val="accent2"/>
            </a:solidFill>
            <a:prstDash val="solid"/>
          </a:ln>
        </p:spPr>
      </p:sp>
      <p:sp>
        <p:nvSpPr>
          <p:cNvPr id="9" name="paso 2"/>
          <p:cNvSpPr/>
          <p:nvPr/>
        </p:nvSpPr>
        <p:spPr>
          <a:xfrm>
            <a:off x="3402254" y="1463040"/>
            <a:ext cx="2533574" cy="2011680"/>
          </a:xfrm>
          <a:prstGeom prst="roundRect">
            <a:avLst>
              <a:gd name="adj" fmla="val 4545"/>
            </a:avLst>
          </a:prstGeom>
          <a:solidFill>
            <a:schemeClr val="bg2"/>
          </a:solidFill>
          <a:ln w="15875">
            <a:solidFill>
              <a:schemeClr val="accent1"/>
            </a:solidFill>
            <a:prstDash val="solid"/>
          </a:ln>
        </p:spPr>
      </p:sp>
      <p:sp>
        <p:nvSpPr>
          <p:cNvPr id="10" name="Text 7"/>
          <p:cNvSpPr txBox="1"/>
          <p:nvPr/>
        </p:nvSpPr>
        <p:spPr>
          <a:xfrm>
            <a:off x="3539414"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539414"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publicar.sh</a:t>
            </a:r>
            <a:endParaRPr lang="en-US" sz="1500" dirty="0"/>
          </a:p>
        </p:txBody>
      </p:sp>
      <p:sp>
        <p:nvSpPr>
          <p:cNvPr id="12" name="Text 9"/>
          <p:cNvSpPr txBox="1"/>
          <p:nvPr/>
        </p:nvSpPr>
        <p:spPr>
          <a:xfrm>
            <a:off x="3539414" y="2423160"/>
            <a:ext cx="2259254" cy="960120"/>
          </a:xfrm>
          <a:prstGeom prst="rect">
            <a:avLst/>
          </a:prstGeom>
          <a:noFill/>
          <a:ln/>
        </p:spPr>
        <p:txBody>
          <a:bodyPr wrap="square" lIns="0" tIns="0" rIns="0" bIns="0" rtlCol="0" anchor="t"/>
          <a:lstStyle/>
          <a:p>
            <a:pPr indent="0" marL="0">
              <a:buNone/>
            </a:pPr>
            <a:r>
              <a:rPr lang="en-US" sz="1300" dirty="0">
                <a:solidFill>
                  <a:schemeClr val="tx1"/>
                </a:solidFill>
              </a:rPr>
              <a:t>Envía la orden por Systems Manager Run Command</a:t>
            </a:r>
            <a:endParaRPr lang="en-US" sz="1300" dirty="0"/>
          </a:p>
        </p:txBody>
      </p:sp>
      <p:sp>
        <p:nvSpPr>
          <p:cNvPr id="13" name="flecha 2"/>
          <p:cNvSpPr/>
          <p:nvPr/>
        </p:nvSpPr>
        <p:spPr>
          <a:xfrm>
            <a:off x="5981548" y="2350008"/>
            <a:ext cx="237744" cy="237744"/>
          </a:xfrm>
          <a:prstGeom prst="rightArrow">
            <a:avLst/>
          </a:prstGeom>
          <a:solidFill>
            <a:schemeClr val="accent2"/>
          </a:solidFill>
          <a:ln w="12700">
            <a:solidFill>
              <a:schemeClr val="accent2"/>
            </a:solidFill>
            <a:prstDash val="solid"/>
          </a:ln>
        </p:spPr>
      </p:sp>
      <p:sp>
        <p:nvSpPr>
          <p:cNvPr id="14" name="paso 3"/>
          <p:cNvSpPr/>
          <p:nvPr/>
        </p:nvSpPr>
        <p:spPr>
          <a:xfrm>
            <a:off x="6255868" y="1463040"/>
            <a:ext cx="2533574" cy="2011680"/>
          </a:xfrm>
          <a:prstGeom prst="roundRect">
            <a:avLst>
              <a:gd name="adj" fmla="val 4545"/>
            </a:avLst>
          </a:prstGeom>
          <a:solidFill>
            <a:schemeClr val="bg2"/>
          </a:solidFill>
          <a:ln w="15875">
            <a:solidFill>
              <a:schemeClr val="accent1"/>
            </a:solidFill>
            <a:prstDash val="solid"/>
          </a:ln>
        </p:spPr>
      </p:sp>
      <p:sp>
        <p:nvSpPr>
          <p:cNvPr id="15" name="Text 12"/>
          <p:cNvSpPr txBox="1"/>
          <p:nvPr/>
        </p:nvSpPr>
        <p:spPr>
          <a:xfrm>
            <a:off x="6393028"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6393028"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actualizar.sh</a:t>
            </a:r>
            <a:endParaRPr lang="en-US" sz="1500" dirty="0"/>
          </a:p>
        </p:txBody>
      </p:sp>
      <p:sp>
        <p:nvSpPr>
          <p:cNvPr id="17" name="Text 14"/>
          <p:cNvSpPr txBox="1"/>
          <p:nvPr/>
        </p:nvSpPr>
        <p:spPr>
          <a:xfrm>
            <a:off x="6393028" y="2423160"/>
            <a:ext cx="2259254" cy="960120"/>
          </a:xfrm>
          <a:prstGeom prst="rect">
            <a:avLst/>
          </a:prstGeom>
          <a:noFill/>
          <a:ln/>
        </p:spPr>
        <p:txBody>
          <a:bodyPr wrap="square" lIns="0" tIns="0" rIns="0" bIns="0" rtlCol="0" anchor="t"/>
          <a:lstStyle/>
          <a:p>
            <a:pPr indent="0" marL="0">
              <a:buNone/>
            </a:pPr>
            <a:r>
              <a:rPr lang="en-US" sz="1300" dirty="0">
                <a:solidFill>
                  <a:schemeClr val="tx1"/>
                </a:solidFill>
              </a:rPr>
              <a:t>En el servidor: git pull, npm ci y npm run build</a:t>
            </a:r>
            <a:endParaRPr lang="en-US" sz="1300" dirty="0"/>
          </a:p>
        </p:txBody>
      </p:sp>
      <p:sp>
        <p:nvSpPr>
          <p:cNvPr id="18" name="flecha 3"/>
          <p:cNvSpPr/>
          <p:nvPr/>
        </p:nvSpPr>
        <p:spPr>
          <a:xfrm>
            <a:off x="8835161" y="2350008"/>
            <a:ext cx="237744" cy="237744"/>
          </a:xfrm>
          <a:prstGeom prst="rightArrow">
            <a:avLst/>
          </a:prstGeom>
          <a:solidFill>
            <a:schemeClr val="accent2"/>
          </a:solidFill>
          <a:ln w="12700">
            <a:solidFill>
              <a:schemeClr val="accent2"/>
            </a:solidFill>
            <a:prstDash val="solid"/>
          </a:ln>
        </p:spPr>
      </p:sp>
      <p:sp>
        <p:nvSpPr>
          <p:cNvPr id="19" name="paso 4"/>
          <p:cNvSpPr/>
          <p:nvPr/>
        </p:nvSpPr>
        <p:spPr>
          <a:xfrm>
            <a:off x="9109481" y="1463040"/>
            <a:ext cx="2533574" cy="2011680"/>
          </a:xfrm>
          <a:prstGeom prst="roundRect">
            <a:avLst>
              <a:gd name="adj" fmla="val 4545"/>
            </a:avLst>
          </a:prstGeom>
          <a:solidFill>
            <a:schemeClr val="bg2"/>
          </a:solidFill>
          <a:ln w="15875">
            <a:solidFill>
              <a:schemeClr val="accent1"/>
            </a:solidFill>
            <a:prstDash val="solid"/>
          </a:ln>
        </p:spPr>
      </p:sp>
      <p:sp>
        <p:nvSpPr>
          <p:cNvPr id="20" name="Text 17"/>
          <p:cNvSpPr txBox="1"/>
          <p:nvPr/>
        </p:nvSpPr>
        <p:spPr>
          <a:xfrm>
            <a:off x="9246641" y="157276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9246641" y="2057400"/>
            <a:ext cx="2259254" cy="365760"/>
          </a:xfrm>
          <a:prstGeom prst="rect">
            <a:avLst/>
          </a:prstGeom>
          <a:noFill/>
          <a:ln/>
        </p:spPr>
        <p:txBody>
          <a:bodyPr wrap="square" lIns="0" tIns="0" rIns="0" bIns="0" rtlCol="0" anchor="ctr"/>
          <a:lstStyle/>
          <a:p>
            <a:pPr indent="0" marL="0">
              <a:buNone/>
            </a:pPr>
            <a:r>
              <a:rPr lang="en-US" sz="1500" b="1" dirty="0">
                <a:solidFill>
                  <a:schemeClr val="tx2"/>
                </a:solidFill>
              </a:rPr>
              <a:t>Reinicio</a:t>
            </a:r>
            <a:endParaRPr lang="en-US" sz="1500" dirty="0"/>
          </a:p>
        </p:txBody>
      </p:sp>
      <p:sp>
        <p:nvSpPr>
          <p:cNvPr id="22" name="Text 19"/>
          <p:cNvSpPr txBox="1"/>
          <p:nvPr/>
        </p:nvSpPr>
        <p:spPr>
          <a:xfrm>
            <a:off x="9246641" y="2423160"/>
            <a:ext cx="2259254" cy="960120"/>
          </a:xfrm>
          <a:prstGeom prst="rect">
            <a:avLst/>
          </a:prstGeom>
          <a:noFill/>
          <a:ln/>
        </p:spPr>
        <p:txBody>
          <a:bodyPr wrap="square" lIns="0" tIns="0" rIns="0" bIns="0" rtlCol="0" anchor="t"/>
          <a:lstStyle/>
          <a:p>
            <a:pPr indent="0" marL="0">
              <a:buNone/>
            </a:pPr>
            <a:r>
              <a:rPr lang="en-US" sz="1300" dirty="0">
                <a:solidFill>
                  <a:schemeClr val="tx1"/>
                </a:solidFill>
              </a:rPr>
              <a:t>Reinicia reux y recarga Caddy; informa la versión publicada</a:t>
            </a:r>
            <a:endParaRPr lang="en-US" sz="1300" dirty="0"/>
          </a:p>
        </p:txBody>
      </p:sp>
      <p:sp>
        <p:nvSpPr>
          <p:cNvPr id="23" name="Text 20"/>
          <p:cNvSpPr txBox="1"/>
          <p:nvPr/>
        </p:nvSpPr>
        <p:spPr>
          <a:xfrm>
            <a:off x="548640" y="3931920"/>
            <a:ext cx="5029200" cy="548640"/>
          </a:xfrm>
          <a:prstGeom prst="rect">
            <a:avLst/>
          </a:prstGeom>
          <a:solidFill>
            <a:schemeClr val="bg2"/>
          </a:solidFill>
          <a:ln/>
        </p:spPr>
        <p:txBody>
          <a:bodyPr wrap="square" lIns="1905" tIns="1905" rIns="1905" bIns="1905" rtlCol="0" anchor="ctr"/>
          <a:lstStyle/>
          <a:p>
            <a:pPr indent="0" marL="0">
              <a:buNone/>
            </a:pPr>
            <a:r>
              <a:rPr lang="en-US" sz="1800" dirty="0">
                <a:solidFill>
                  <a:schemeClr val="tx2"/>
                </a:solidFill>
                <a:latin typeface="Courier New" pitchFamily="34" charset="0"/>
                <a:ea typeface="Courier New" pitchFamily="34" charset="-122"/>
                <a:cs typeface="Courier New" pitchFamily="34" charset="-120"/>
              </a:rPr>
              <a:t>bash infra/publicar.sh</a:t>
            </a:r>
            <a:endParaRPr lang="en-US" sz="1800" dirty="0"/>
          </a:p>
        </p:txBody>
      </p:sp>
      <p:sp>
        <p:nvSpPr>
          <p:cNvPr id="24" name="Text 21"/>
          <p:cNvSpPr txBox="1"/>
          <p:nvPr/>
        </p:nvSpPr>
        <p:spPr>
          <a:xfrm>
            <a:off x="5943600" y="3931920"/>
            <a:ext cx="566928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Sin SSH: el firewall solo abre 80 y 443</a:t>
            </a:r>
            <a:endParaRPr lang="en-US" sz="1600" dirty="0"/>
          </a:p>
          <a:p>
            <a:pPr marL="342900" indent="-342900">
              <a:spcAft>
                <a:spcPts val="800"/>
              </a:spcAft>
              <a:buSzPct val="100000"/>
              <a:buChar char="•"/>
            </a:pPr>
            <a:r>
              <a:rPr lang="en-US" sz="1600" dirty="0">
                <a:solidFill>
                  <a:schemeClr val="tx1"/>
                </a:solidFill>
              </a:rPr>
              <a:t>Cada versión corresponde a un commit de GitHub, fácil de revertir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Costos y próximos pasos</a:t>
            </a:r>
            <a:endParaRPr lang="en-US" sz="4400" dirty="0"/>
          </a:p>
        </p:txBody>
      </p:sp>
      <p:sp>
        <p:nvSpPr>
          <p:cNvPr id="4" name="Text 0"/>
          <p:cNvSpPr/>
          <p:nvPr>
            <p:ph idx="101" type="body" hasCustomPrompt="1"/>
          </p:nvPr>
        </p:nvSpPr>
        <p:spPr>
          <a:xfrm>
            <a:off x="548640" y="3794760"/>
            <a:ext cx="10515600" cy="822960"/>
          </a:xfrm>
          <a:prstGeom prst="rect">
            <a:avLst/>
          </a:prstGeom>
          <a:noFill/>
          <a:ln/>
        </p:spPr>
        <p:txBody>
          <a:bodyPr wrap="square" lIns="0" tIns="0" rIns="0" bIns="0" rtlCol="0" anchor="t"/>
          <a:lstStyle/>
          <a:p>
            <a:pPr indent="0" marL="0">
              <a:buNone/>
            </a:pPr>
            <a:r>
              <a:rPr lang="en-US" sz="2000" dirty="0">
                <a:solidFill>
                  <a:schemeClr val="bg2"/>
                </a:solidFill>
              </a:rPr>
              <a:t>Cuánto cuesta y qué sigue</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1F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Costos mensuales estimados</a:t>
            </a:r>
            <a:endParaRPr lang="en-US" sz="3200" dirty="0"/>
          </a:p>
        </p:txBody>
      </p:sp>
      <p:graphicFrame>
        <p:nvGraphicFramePr>
          <p:cNvPr id="4" name="Chart 0" descr=""/>
          <p:cNvGraphicFramePr/>
          <p:nvPr/>
        </p:nvGraphicFramePr>
        <p:xfrm>
          <a:off x="548640" y="1280160"/>
          <a:ext cx="6309360" cy="4846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315200" y="1371600"/>
            <a:ext cx="429768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 US$18</a:t>
            </a:r>
            <a:endParaRPr lang="en-US" sz="4800" dirty="0"/>
          </a:p>
        </p:txBody>
      </p:sp>
      <p:sp>
        <p:nvSpPr>
          <p:cNvPr id="6" name="Text 2"/>
          <p:cNvSpPr txBox="1"/>
          <p:nvPr/>
        </p:nvSpPr>
        <p:spPr>
          <a:xfrm>
            <a:off x="7315200" y="2286000"/>
            <a:ext cx="4297680" cy="640080"/>
          </a:xfrm>
          <a:prstGeom prst="rect">
            <a:avLst/>
          </a:prstGeom>
          <a:noFill/>
          <a:ln/>
        </p:spPr>
        <p:txBody>
          <a:bodyPr wrap="square" lIns="0" tIns="0" rIns="0" bIns="0" rtlCol="0" anchor="t"/>
          <a:lstStyle/>
          <a:p>
            <a:pPr indent="0" marL="0">
              <a:buNone/>
            </a:pPr>
            <a:r>
              <a:rPr lang="en-US" sz="1400" dirty="0">
                <a:solidFill>
                  <a:schemeClr val="tx1"/>
                </a:solidFill>
              </a:rPr>
              <a:t>costo fijo mensual (servidor, IP, disco y S3)</a:t>
            </a:r>
            <a:endParaRPr lang="en-US" sz="1400" dirty="0"/>
          </a:p>
        </p:txBody>
      </p:sp>
      <p:sp>
        <p:nvSpPr>
          <p:cNvPr id="7" name="Text 3"/>
          <p:cNvSpPr txBox="1"/>
          <p:nvPr/>
        </p:nvSpPr>
        <p:spPr>
          <a:xfrm>
            <a:off x="7315200" y="3063240"/>
            <a:ext cx="4297680" cy="914400"/>
          </a:xfrm>
          <a:prstGeom prst="rect">
            <a:avLst/>
          </a:prstGeom>
          <a:noFill/>
          <a:ln/>
        </p:spPr>
        <p:txBody>
          <a:bodyPr wrap="square" lIns="0" tIns="0" rIns="0" bIns="0" rtlCol="0" anchor="ctr"/>
          <a:lstStyle/>
          <a:p>
            <a:pPr indent="0" marL="0">
              <a:buNone/>
            </a:pPr>
            <a:r>
              <a:rPr lang="en-US" sz="4800" b="1" dirty="0">
                <a:solidFill>
                  <a:schemeClr val="accent5"/>
                </a:solidFill>
                <a:latin typeface="Cambria" pitchFamily="34" charset="0"/>
                <a:ea typeface="Cambria" pitchFamily="34" charset="-122"/>
                <a:cs typeface="Cambria" pitchFamily="34" charset="-120"/>
              </a:rPr>
              <a:t>≈ US$1.44</a:t>
            </a:r>
            <a:endParaRPr lang="en-US" sz="4800" dirty="0"/>
          </a:p>
        </p:txBody>
      </p:sp>
      <p:sp>
        <p:nvSpPr>
          <p:cNvPr id="8" name="Text 4"/>
          <p:cNvSpPr txBox="1"/>
          <p:nvPr/>
        </p:nvSpPr>
        <p:spPr>
          <a:xfrm>
            <a:off x="7315200" y="3977640"/>
            <a:ext cx="4297680" cy="640080"/>
          </a:xfrm>
          <a:prstGeom prst="rect">
            <a:avLst/>
          </a:prstGeom>
          <a:noFill/>
          <a:ln/>
        </p:spPr>
        <p:txBody>
          <a:bodyPr wrap="square" lIns="0" tIns="0" rIns="0" bIns="0" rtlCol="0" anchor="t"/>
          <a:lstStyle/>
          <a:p>
            <a:pPr indent="0" marL="0">
              <a:buNone/>
            </a:pPr>
            <a:r>
              <a:rPr lang="en-US" sz="1400" dirty="0">
                <a:solidFill>
                  <a:schemeClr val="tx1"/>
                </a:solidFill>
              </a:rPr>
              <a:t>por hora de audio transcrita</a:t>
            </a:r>
            <a:endParaRPr lang="en-US" sz="1400" dirty="0"/>
          </a:p>
        </p:txBody>
      </p:sp>
      <p:sp>
        <p:nvSpPr>
          <p:cNvPr id="9" name="Text 5"/>
          <p:cNvSpPr txBox="1"/>
          <p:nvPr/>
        </p:nvSpPr>
        <p:spPr>
          <a:xfrm>
            <a:off x="7315200" y="4754880"/>
            <a:ext cx="4297680" cy="91440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US$0.03–0.10</a:t>
            </a:r>
            <a:endParaRPr lang="en-US" sz="3600" dirty="0"/>
          </a:p>
        </p:txBody>
      </p:sp>
      <p:sp>
        <p:nvSpPr>
          <p:cNvPr id="10" name="Text 6"/>
          <p:cNvSpPr txBox="1"/>
          <p:nvPr/>
        </p:nvSpPr>
        <p:spPr>
          <a:xfrm>
            <a:off x="7315200" y="5669280"/>
            <a:ext cx="4297680" cy="640080"/>
          </a:xfrm>
          <a:prstGeom prst="rect">
            <a:avLst/>
          </a:prstGeom>
          <a:noFill/>
          <a:ln/>
        </p:spPr>
        <p:txBody>
          <a:bodyPr wrap="square" lIns="0" tIns="0" rIns="0" bIns="0" rtlCol="0" anchor="t"/>
          <a:lstStyle/>
          <a:p>
            <a:pPr indent="0" marL="0">
              <a:buNone/>
            </a:pPr>
            <a:r>
              <a:rPr lang="en-US" sz="1400" dirty="0">
                <a:solidFill>
                  <a:schemeClr val="tx1"/>
                </a:solidFill>
              </a:rPr>
              <a:t>por minuta con Claude Sonnet 4.6</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Límites actuales y mejoras sugeridas</a:t>
            </a:r>
            <a:endParaRPr lang="en-US" sz="3200" dirty="0"/>
          </a:p>
        </p:txBody>
      </p:sp>
      <p:sp>
        <p:nvSpPr>
          <p:cNvPr id="4" name="panel límites"/>
          <p:cNvSpPr/>
          <p:nvPr/>
        </p:nvSpPr>
        <p:spPr>
          <a:xfrm>
            <a:off x="548640" y="1371600"/>
            <a:ext cx="5440680" cy="3566160"/>
          </a:xfrm>
          <a:prstGeom prst="roundRect">
            <a:avLst>
              <a:gd name="adj" fmla="val 3077"/>
            </a:avLst>
          </a:prstGeom>
          <a:solidFill>
            <a:schemeClr val="bg2"/>
          </a:solidFill>
          <a:ln w="12700">
            <a:solidFill>
              <a:schemeClr val="bg2"/>
            </a:solidFill>
            <a:prstDash val="solid"/>
          </a:ln>
        </p:spPr>
      </p:sp>
      <p:sp>
        <p:nvSpPr>
          <p:cNvPr id="5" name="Text 2"/>
          <p:cNvSpPr txBox="1"/>
          <p:nvPr/>
        </p:nvSpPr>
        <p:spPr>
          <a:xfrm>
            <a:off x="822960" y="1508760"/>
            <a:ext cx="4846320" cy="457200"/>
          </a:xfrm>
          <a:prstGeom prst="rect">
            <a:avLst/>
          </a:prstGeom>
          <a:noFill/>
          <a:ln/>
        </p:spPr>
        <p:txBody>
          <a:bodyPr wrap="square" lIns="0" tIns="0" rIns="0" bIns="0" rtlCol="0" anchor="ctr"/>
          <a:lstStyle/>
          <a:p>
            <a:pPr indent="0" marL="0">
              <a:buNone/>
            </a:pPr>
            <a:r>
              <a:rPr lang="en-US" sz="1800" b="1" dirty="0">
                <a:solidFill>
                  <a:schemeClr val="accent6"/>
                </a:solidFill>
              </a:rPr>
              <a:t>Límites actuales</a:t>
            </a:r>
            <a:endParaRPr lang="en-US" sz="1800" dirty="0"/>
          </a:p>
        </p:txBody>
      </p:sp>
      <p:sp>
        <p:nvSpPr>
          <p:cNvPr id="6" name="Text 3"/>
          <p:cNvSpPr txBox="1"/>
          <p:nvPr/>
        </p:nvSpPr>
        <p:spPr>
          <a:xfrm>
            <a:off x="822960" y="2103120"/>
            <a:ext cx="493776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Un solo servidor: si se detiene, el servicio se interrumpe</a:t>
            </a:r>
            <a:endParaRPr lang="en-US" sz="1500" dirty="0"/>
          </a:p>
          <a:p>
            <a:pPr marL="342900" indent="-342900">
              <a:spcAft>
                <a:spcPts val="800"/>
              </a:spcAft>
              <a:buSzPct val="100000"/>
              <a:buChar char="•"/>
            </a:pPr>
            <a:r>
              <a:rPr lang="en-US" sz="1500" dirty="0">
                <a:solidFill>
                  <a:schemeClr val="tx1"/>
                </a:solidFill>
              </a:rPr>
              <a:t>Modelos Claude 5.x aún no habilitados en la cuenta</a:t>
            </a:r>
            <a:endParaRPr lang="en-US" sz="1500" dirty="0"/>
          </a:p>
          <a:p>
            <a:pPr marL="342900" indent="-342900">
              <a:spcAft>
                <a:spcPts val="800"/>
              </a:spcAft>
              <a:buSzPct val="100000"/>
              <a:buChar char="•"/>
            </a:pPr>
            <a:r>
              <a:rPr lang="en-US" sz="1500" dirty="0">
                <a:solidFill>
                  <a:schemeClr val="tx1"/>
                </a:solidFill>
              </a:rPr>
              <a:t>La transcripción puede fallar en cifras y nombres</a:t>
            </a:r>
            <a:endParaRPr lang="en-US" sz="1500" dirty="0"/>
          </a:p>
          <a:p>
            <a:pPr marL="342900" indent="-342900">
              <a:spcAft>
                <a:spcPts val="800"/>
              </a:spcAft>
              <a:buSzPct val="100000"/>
              <a:buChar char="•"/>
            </a:pPr>
            <a:r>
              <a:rPr lang="en-US" sz="1500" dirty="0">
                <a:solidFill>
                  <a:schemeClr val="tx1"/>
                </a:solidFill>
              </a:rPr>
              <a:t>Usuarios en un archivo JSON (decenas o cientos)</a:t>
            </a:r>
            <a:endParaRPr lang="en-US" sz="1500" dirty="0"/>
          </a:p>
        </p:txBody>
      </p:sp>
      <p:sp>
        <p:nvSpPr>
          <p:cNvPr id="7" name="panel mejoras"/>
          <p:cNvSpPr/>
          <p:nvPr/>
        </p:nvSpPr>
        <p:spPr>
          <a:xfrm>
            <a:off x="6199632" y="1371600"/>
            <a:ext cx="5440680" cy="3566160"/>
          </a:xfrm>
          <a:prstGeom prst="roundRect">
            <a:avLst>
              <a:gd name="adj" fmla="val 3077"/>
            </a:avLst>
          </a:prstGeom>
          <a:solidFill>
            <a:schemeClr val="bg2"/>
          </a:solidFill>
          <a:ln w="12700">
            <a:solidFill>
              <a:schemeClr val="bg2"/>
            </a:solidFill>
            <a:prstDash val="solid"/>
          </a:ln>
        </p:spPr>
      </p:sp>
      <p:sp>
        <p:nvSpPr>
          <p:cNvPr id="8" name="Text 5"/>
          <p:cNvSpPr txBox="1"/>
          <p:nvPr/>
        </p:nvSpPr>
        <p:spPr>
          <a:xfrm>
            <a:off x="6473952" y="1508760"/>
            <a:ext cx="4846320" cy="457200"/>
          </a:xfrm>
          <a:prstGeom prst="rect">
            <a:avLst/>
          </a:prstGeom>
          <a:noFill/>
          <a:ln/>
        </p:spPr>
        <p:txBody>
          <a:bodyPr wrap="square" lIns="0" tIns="0" rIns="0" bIns="0" rtlCol="0" anchor="ctr"/>
          <a:lstStyle/>
          <a:p>
            <a:pPr indent="0" marL="0">
              <a:buNone/>
            </a:pPr>
            <a:r>
              <a:rPr lang="en-US" sz="1800" b="1" dirty="0">
                <a:solidFill>
                  <a:schemeClr val="accent4"/>
                </a:solidFill>
              </a:rPr>
              <a:t>Mejoras sugeridas</a:t>
            </a:r>
            <a:endParaRPr lang="en-US" sz="1800" dirty="0"/>
          </a:p>
        </p:txBody>
      </p:sp>
      <p:sp>
        <p:nvSpPr>
          <p:cNvPr id="9" name="Text 6"/>
          <p:cNvSpPr txBox="1"/>
          <p:nvPr/>
        </p:nvSpPr>
        <p:spPr>
          <a:xfrm>
            <a:off x="6473952" y="2103120"/>
            <a:ext cx="493776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Alta disponibilidad: ECS/Fargate o App Runner con balanceador</a:t>
            </a:r>
            <a:endParaRPr lang="en-US" sz="1500" dirty="0"/>
          </a:p>
          <a:p>
            <a:pPr marL="342900" indent="-342900">
              <a:spcAft>
                <a:spcPts val="800"/>
              </a:spcAft>
              <a:buSzPct val="100000"/>
              <a:buChar char="•"/>
            </a:pPr>
            <a:r>
              <a:rPr lang="en-US" sz="1500" dirty="0">
                <a:solidFill>
                  <a:schemeClr val="tx1"/>
                </a:solidFill>
              </a:rPr>
              <a:t>Solicitar Claude Opus 5.5 / Sonnet 5.5 en Bedrock</a:t>
            </a:r>
            <a:endParaRPr lang="en-US" sz="1500" dirty="0"/>
          </a:p>
          <a:p>
            <a:pPr marL="342900" indent="-342900">
              <a:spcAft>
                <a:spcPts val="800"/>
              </a:spcAft>
              <a:buSzPct val="100000"/>
              <a:buChar char="•"/>
            </a:pPr>
            <a:r>
              <a:rPr lang="en-US" sz="1500" dirty="0">
                <a:solidFill>
                  <a:schemeClr val="tx1"/>
                </a:solidFill>
              </a:rPr>
              <a:t>Alarmas de CloudWatch y versionado del bucket</a:t>
            </a:r>
            <a:endParaRPr lang="en-US" sz="1500" dirty="0"/>
          </a:p>
          <a:p>
            <a:pPr marL="342900" indent="-342900">
              <a:spcAft>
                <a:spcPts val="800"/>
              </a:spcAft>
              <a:buSzPct val="100000"/>
              <a:buChar char="•"/>
            </a:pPr>
            <a:r>
              <a:rPr lang="en-US" sz="1500" dirty="0">
                <a:solidFill>
                  <a:schemeClr val="tx1"/>
                </a:solidFill>
              </a:rPr>
              <a:t>DynamoDB o Amazon Cognito para muchos usuarios</a:t>
            </a:r>
            <a:endParaRPr lang="en-US" sz="1500" dirty="0"/>
          </a:p>
        </p:txBody>
      </p:sp>
      <p:sp>
        <p:nvSpPr>
          <p:cNvPr id="10" name="conclusión"/>
          <p:cNvSpPr/>
          <p:nvPr/>
        </p:nvSpPr>
        <p:spPr>
          <a:xfrm>
            <a:off x="548640" y="5257800"/>
            <a:ext cx="11094415" cy="822960"/>
          </a:xfrm>
          <a:prstGeom prst="roundRect">
            <a:avLst>
              <a:gd name="adj" fmla="val 13333"/>
            </a:avLst>
          </a:prstGeom>
          <a:solidFill>
            <a:schemeClr val="bg2"/>
          </a:solidFill>
          <a:ln w="12700">
            <a:solidFill>
              <a:schemeClr val="bg2"/>
            </a:solidFill>
            <a:prstDash val="solid"/>
          </a:ln>
        </p:spPr>
      </p:sp>
      <p:sp>
        <p:nvSpPr>
          <p:cNvPr id="11" name="Text 8"/>
          <p:cNvSpPr txBox="1"/>
          <p:nvPr/>
        </p:nvSpPr>
        <p:spPr>
          <a:xfrm>
            <a:off x="822960" y="5257800"/>
            <a:ext cx="10545775" cy="822960"/>
          </a:xfrm>
          <a:prstGeom prst="rect">
            <a:avLst/>
          </a:prstGeom>
          <a:noFill/>
          <a:ln/>
        </p:spPr>
        <p:txBody>
          <a:bodyPr wrap="square" lIns="0" tIns="0" rIns="0" bIns="0" rtlCol="0" anchor="ctr"/>
          <a:lstStyle/>
          <a:p>
            <a:pPr indent="0" marL="0">
              <a:buNone/>
            </a:pPr>
            <a:r>
              <a:rPr lang="en-US" sz="1600" i="1" dirty="0">
                <a:solidFill>
                  <a:schemeClr val="tx2"/>
                </a:solidFill>
              </a:rPr>
              <a:t>Siguiente paso recomendado: solicitar a AWS los modelos Claude 5.x y activar alarmas de CloudWatch.</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Resumen: cada servicio y su conexión</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218883"/>
                <a:gridCol w="3698138"/>
                <a:gridCol w="5177394"/>
              </a:tblGrid>
              <a:tr h="0">
                <a:tc>
                  <a:txBody>
                    <a:bodyPr/>
                    <a:lstStyle/>
                    <a:p>
                      <a:pPr indent="0" marL="0">
                        <a:buNone/>
                      </a:pPr>
                      <a:r>
                        <a:rPr lang="en-US" sz="1400" b="1" dirty="0">
                          <a:solidFill>
                            <a:schemeClr val="bg1"/>
                          </a:solidFill>
                        </a:rPr>
                        <a:t>Servicio</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Aporta</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Se conecta con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accent1"/>
                    </a:solidFill>
                  </a:tcPr>
                </a:tc>
              </a:tr>
              <a:tr h="0">
                <a:tc>
                  <a:txBody>
                    <a:bodyPr/>
                    <a:lstStyle/>
                    <a:p>
                      <a:pPr indent="0" marL="0">
                        <a:buNone/>
                      </a:pPr>
                      <a:r>
                        <a:rPr lang="en-US" sz="1400" dirty="0">
                          <a:solidFill>
                            <a:schemeClr val="tx1"/>
                          </a:solidFill>
                        </a:rPr>
                        <a:t>EC2 + Caddy</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Aplicación web y HTTPS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Usuarios, S3, Transcribe, Bedrock, Parameter Store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Amazon S3</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Grabaciones, transcripciones y usuarios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Navegador (subida), app, Transcribe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Amazon Transcribe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Voz a texto con hablantes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App (trabajos) y S3 (audio y JSON)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Amazon Bedrock</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Claude: minuta y visuales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App (messages.parse)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Parameter Store</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Credenciales cifradas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Servidor al iniciar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IAM</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Permisos mínimos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Rol de la instancia EC2</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Systems Manager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Administración sin SSH</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Desarrollador → servidor</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CloudFormation</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Infraestructura como código</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 todos los recursos</a:t>
                      </a:r>
                      <a:endParaRPr lang="en-US" sz="1400" dirty="0"/>
                    </a:p>
                  </a:txBody>
                  <a:tcPr marL="91440" marR="9144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chemeClr val="bg1"/>
                    </a:solidFill>
                  </a:tcPr>
                </a:tc>
              </a:tr>
            </a:tbl>
          </a:graphicData>
        </a:graphic>
      </p:graphicFrame>
      <p:sp>
        <p:nvSpPr>
          <p:cNvPr id="5" name="conclusión"/>
          <p:cNvSpPr/>
          <p:nvPr/>
        </p:nvSpPr>
        <p:spPr>
          <a:xfrm>
            <a:off x="548640" y="5257800"/>
            <a:ext cx="11094415" cy="822960"/>
          </a:xfrm>
          <a:prstGeom prst="roundRect">
            <a:avLst>
              <a:gd name="adj" fmla="val 13333"/>
            </a:avLst>
          </a:prstGeom>
          <a:solidFill>
            <a:schemeClr val="bg2"/>
          </a:solidFill>
          <a:ln w="12700">
            <a:solidFill>
              <a:schemeClr val="bg2"/>
            </a:solidFill>
            <a:prstDash val="solid"/>
          </a:ln>
        </p:spPr>
      </p:sp>
      <p:sp>
        <p:nvSpPr>
          <p:cNvPr id="6" name="Text 2"/>
          <p:cNvSpPr txBox="1"/>
          <p:nvPr/>
        </p:nvSpPr>
        <p:spPr>
          <a:xfrm>
            <a:off x="822960" y="5257800"/>
            <a:ext cx="10545775" cy="822960"/>
          </a:xfrm>
          <a:prstGeom prst="rect">
            <a:avLst/>
          </a:prstGeom>
          <a:noFill/>
          <a:ln/>
        </p:spPr>
        <p:txBody>
          <a:bodyPr wrap="square" lIns="0" tIns="0" rIns="0" bIns="0" rtlCol="0" anchor="ctr"/>
          <a:lstStyle/>
          <a:p>
            <a:pPr indent="0" marL="0">
              <a:buNone/>
            </a:pPr>
            <a:r>
              <a:rPr lang="en-US" sz="1600" i="1" dirty="0">
                <a:solidFill>
                  <a:schemeClr val="tx2"/>
                </a:solidFill>
              </a:rPr>
              <a:t>Seis servicios gestionados de AWS alrededor de un servidor pequeño: AWS hace el trabajo pesado y la app orquesta.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273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Gracias</a:t>
            </a:r>
            <a:endParaRPr lang="en-US" sz="4400" dirty="0"/>
          </a:p>
        </p:txBody>
      </p:sp>
      <p:sp>
        <p:nvSpPr>
          <p:cNvPr id="4" name="Text 0"/>
          <p:cNvSpPr/>
          <p:nvPr>
            <p:ph idx="101" type="body" hasCustomPrompt="1"/>
          </p:nvPr>
        </p:nvSpPr>
        <p:spPr>
          <a:xfrm>
            <a:off x="548640" y="3794760"/>
            <a:ext cx="10515600" cy="822960"/>
          </a:xfrm>
          <a:prstGeom prst="rect">
            <a:avLst/>
          </a:prstGeom>
          <a:noFill/>
          <a:ln/>
        </p:spPr>
        <p:txBody>
          <a:bodyPr wrap="square" lIns="0" tIns="0" rIns="0" bIns="0" rtlCol="0" anchor="t"/>
          <a:lstStyle/>
          <a:p>
            <a:pPr indent="0" marL="0">
              <a:buNone/>
            </a:pPr>
            <a:r>
              <a:rPr lang="en-US" sz="2000" dirty="0">
                <a:solidFill>
                  <a:schemeClr val="bg2"/>
                </a:solidFill>
              </a:rPr>
              <a:t>Reu-X está en línea en https://reux.amezzi.tech</a:t>
            </a:r>
            <a:endParaRPr lang="en-US" sz="2000" dirty="0"/>
          </a:p>
        </p:txBody>
      </p:sp>
      <p:sp>
        <p:nvSpPr>
          <p:cNvPr id="5" name="Text 2"/>
          <p:cNvSpPr txBox="1"/>
          <p:nvPr/>
        </p:nvSpPr>
        <p:spPr>
          <a:xfrm>
            <a:off x="548640" y="4754880"/>
            <a:ext cx="8229600" cy="411480"/>
          </a:xfrm>
          <a:prstGeom prst="rect">
            <a:avLst/>
          </a:prstGeom>
          <a:noFill/>
          <a:ln/>
        </p:spPr>
        <p:txBody>
          <a:bodyPr wrap="square" lIns="0" tIns="0" rIns="0" bIns="0" rtlCol="0" anchor="ctr"/>
          <a:lstStyle/>
          <a:p>
            <a:pPr indent="0" marL="0">
              <a:buNone/>
            </a:pPr>
            <a:r>
              <a:rPr lang="en-US" sz="1600" dirty="0">
                <a:solidFill>
                  <a:schemeClr val="bg2"/>
                </a:solidFill>
              </a:rPr>
              <a:t>github.com/epinedaWorks/Reu-X-AmezziTech</a:t>
            </a:r>
            <a:endParaRPr lang="en-US" sz="1600" dirty="0"/>
          </a:p>
        </p:txBody>
      </p:sp>
      <p:sp>
        <p:nvSpPr>
          <p:cNvPr id="6" name="Text 3"/>
          <p:cNvSpPr txBox="1"/>
          <p:nvPr/>
        </p:nvSpPr>
        <p:spPr>
          <a:xfrm>
            <a:off x="548640" y="5257800"/>
            <a:ext cx="10058400" cy="457200"/>
          </a:xfrm>
          <a:prstGeom prst="rect">
            <a:avLst/>
          </a:prstGeom>
          <a:noFill/>
          <a:ln/>
        </p:spPr>
        <p:txBody>
          <a:bodyPr wrap="square" lIns="0" tIns="0" rIns="0" bIns="0" rtlCol="0" anchor="ctr"/>
          <a:lstStyle/>
          <a:p>
            <a:pPr indent="0" marL="0">
              <a:buNone/>
            </a:pPr>
            <a:r>
              <a:rPr lang="en-US" sz="1800" b="1" dirty="0">
                <a:solidFill>
                  <a:schemeClr val="bg1"/>
                </a:solidFill>
              </a:rPr>
              <a:t>Amezzi </a:t>
            </a:r>
            <a:pPr indent="0" marL="0">
              <a:buNone/>
            </a:pPr>
            <a:r>
              <a:rPr lang="en-US" sz="1800" b="1" dirty="0">
                <a:solidFill>
                  <a:schemeClr val="accent2"/>
                </a:solidFill>
              </a:rPr>
              <a:t>Tech</a:t>
            </a:r>
            <a:pPr indent="0" marL="0">
              <a:buNone/>
            </a:pPr>
            <a:r>
              <a:rPr lang="en-US" sz="1800" dirty="0">
                <a:solidFill>
                  <a:schemeClr val="bg2"/>
                </a:solidFill>
              </a:rPr>
              <a:t>  ·  by Ing. Erick J. Pineda Amézquita</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1F5"/>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Reu-X">
  <a:themeElements>
    <a:clrScheme name="Reu-X">
      <a:dk1>
        <a:srgbClr val="1F2733"/>
      </a:dk1>
      <a:lt1>
        <a:srgbClr val="FFFFFF"/>
      </a:lt1>
      <a:dk2>
        <a:srgbClr val="1B2A41"/>
      </a:dk2>
      <a:lt2>
        <a:srgbClr val="EEF1F5"/>
      </a:lt2>
      <a:accent1>
        <a:srgbClr val="1B2A41"/>
      </a:accent1>
      <a:accent2>
        <a:srgbClr val="9A7B4F"/>
      </a:accent2>
      <a:accent3>
        <a:srgbClr val="E8890C"/>
      </a:accent3>
      <a:accent4>
        <a:srgbClr val="2F6B4F"/>
      </a:accent4>
      <a:accent5>
        <a:srgbClr val="0E7C86"/>
      </a:accent5>
      <a:accent6>
        <a:srgbClr val="A23B3B"/>
      </a:accent6>
      <a:hlink>
        <a:srgbClr val="1F5FAD"/>
      </a:hlink>
      <a:folHlink>
        <a:srgbClr val="6B4FA0"/>
      </a:folHlink>
    </a:clrScheme>
    <a:fontScheme name="Reu-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Amezzi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Reu-X · Servicios y conexiones en AWS</dc:title>
  <dc:subject>PptxGenJS Presentation</dc:subject>
  <dc:creator>Ing. Erick J. Pineda Amézquita</dc:creator>
  <cp:lastModifiedBy>Ing. Erick J. Pineda Amézquita</cp:lastModifiedBy>
  <cp:revision>1</cp:revision>
  <dcterms:created xsi:type="dcterms:W3CDTF">2026-10-09T22:36:34Z</dcterms:created>
  <dcterms:modified xsi:type="dcterms:W3CDTF">2026-10-09T22:36:34Z</dcterms:modified>
</cp:coreProperties>
</file>